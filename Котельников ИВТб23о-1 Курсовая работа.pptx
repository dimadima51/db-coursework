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60" r:id="rId4"/>
    <p:sldId id="279" r:id="rId5"/>
    <p:sldId id="280" r:id="rId6"/>
    <p:sldId id="281" r:id="rId7"/>
    <p:sldId id="282" r:id="rId8"/>
    <p:sldId id="273" r:id="rId9"/>
    <p:sldId id="262" r:id="rId10"/>
    <p:sldId id="263" r:id="rId11"/>
    <p:sldId id="265" r:id="rId12"/>
    <p:sldId id="274" r:id="rId13"/>
    <p:sldId id="266" r:id="rId14"/>
    <p:sldId id="267" r:id="rId15"/>
    <p:sldId id="276" r:id="rId16"/>
    <p:sldId id="277" r:id="rId17"/>
    <p:sldId id="268" r:id="rId18"/>
    <p:sldId id="278" r:id="rId19"/>
    <p:sldId id="269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75563" autoAdjust="0"/>
  </p:normalViewPr>
  <p:slideViewPr>
    <p:cSldViewPr snapToGrid="0">
      <p:cViewPr varScale="1">
        <p:scale>
          <a:sx n="85" d="100"/>
          <a:sy n="85" d="100"/>
        </p:scale>
        <p:origin x="1878" y="4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13655-5D7E-4452-862A-1179FAD185D5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95E8C-2935-4269-A502-65DEB863BE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320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31596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48283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Здравствуйте, уважаемые члены комиссии.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Здравствуйте, уважаемый товарищ преподаватель.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Меня зовут Дмитрий Котельников.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Тема моей курсовой работы – Разработка приложения базы данных службы доставки посылок.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8743256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DF6BA-EFF5-5C00-F511-01F46B54185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3616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3478903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r>
              <a:rPr lang="ru-RU" dirty="0"/>
              <a:t>В условиях стремительного развития онлайн-торговли объёмы отправлений растут с каждым годом. Службы доставки ежедневно обрабатывают сотни и тысячи посылок. При отсутствии автоматизированной системы данные зачастую хранятся разрозненно, возникают ошибки ручного ввода. Всё это приводит к снижению качества обслуживания и финансовым потерям. Разработка базы данных, являющейся ядром информационной системы, позволяет централизовать всю информацию, автоматизировать ключевые операции - от приёма посылки до её выдачи - и тем самым повысить эффективность работы службы доставки.</a:t>
            </a:r>
          </a:p>
        </p:txBody>
      </p:sp>
      <p:sp>
        <p:nvSpPr>
          <p:cNvPr id="97090811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64CEAE08-5A62-B28E-4FFB-F90A7C6D2CB6}" type="slidenum">
              <a:rPr lang="ru-RU"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219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713380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ru-RU" dirty="0"/>
              <a:t>Целью данной курсовой работы является разработка приложения базы данных, предназначенного для автоматизации деятельности службы доставки посылок.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ru-RU" dirty="0"/>
              <a:t>Для достижения этой цели были поставлены следующие задачи, с которыми вы можете ознакомиться на слайде.</a:t>
            </a:r>
          </a:p>
        </p:txBody>
      </p:sp>
      <p:sp>
        <p:nvSpPr>
          <p:cNvPr id="11278328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503000EB-4D64-1642-136B-253501F84A9C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219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713380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 качестве объекта разработки я рассматриваю гипотетическую организацию – службу доставки посылок «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quote-cjk-patch"/>
              </a:rPr>
              <a:t>ЭкспрессДоставка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». Компания работает в высококонкурентной среде, и объём заказов постоянно растёт, прежде всего из-за развития электронной коммерции. Основная деятельность – это приём посылок от отправителей, их транспортировка между пунктами обслуживания и выдача получателям.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 организационной структуре можно выделить три ключевых звена: пункты приёма и выдачи, транспортный отдел и административно-управленческий персонал. Все они ежедневно порождают и потребляют большой объём информации.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Я выделил несколько основных бизнес-процессов. Во-первых, регистрация клиентов – как отправителей, так и получателей. Во-вторых, оформление самого отправления, в ходе которого фиксируются вес, габариты и рассчитывается стоимость доставки по утверждённым тарифам. В-третьих, непрерывный учёт и отслеживание статусов посылки на всём пути от приёма до выдачи. Кроме того, важны процессы хранения и выдачи отправлений и управления персоналом.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Анализ показал, что при отсутствии автоматизированной системы возникает целый ряд проблем: данные хранятся разрозненно, высока вероятность ошибок при ручной обработке, а возможности построения сводной отчётности сильно ограничены. Всё это напрямую снижает эффективность бизнеса и качество обслуживания клиентов.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Поэтому и возникает необходимость в разработке базы данных, которая централизует информацию, автоматизирует ключевые процессы, повысит точность учёта и обеспечит оперативный доступ к данным.</a:t>
            </a:r>
            <a:br>
              <a:rPr lang="ru-RU" i="0" dirty="0"/>
            </a:br>
            <a:endParaRPr lang="ru-RU" i="0" dirty="0"/>
          </a:p>
        </p:txBody>
      </p:sp>
      <p:sp>
        <p:nvSpPr>
          <p:cNvPr id="11278328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503000EB-4D64-1642-136B-253501F84A9C}" type="slidenum">
              <a:rPr lang="ru-RU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53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219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713380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Теперь рассмотрим, какая информация циркулирует в системе и как она преобразуется.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Входная, или первичная, информация поступает из нескольких источников. Это бумажные формы, заполняемые клиентами, – почтовый бланк, опись вложения. Также сюда относятся справочные данные: тарифы, карточки клиентов, штатное расписание сотрудников и паспорта пунктов приёма и выдачи. Вся эта информация фиксирует исходные характеристики отправления и условия доставки.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На основе первичных данных система формирует результатную информацию. К ней относятся квитанция о приёме отправления, подтверждающая оплату, накладная с уникальным идентификатором ИПО, а также сводный акт приёма-передачи, который оформляется при передаче партии посылок, например, между пунктами или от отправителя в службу доставки.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Чтобы наглядно показать структуру информационных потоков, я разделил их на три функциональных блока.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Первый блок – «Обслуживание клиентов и тарификация». Здесь на основе тарифного справочника и карточки клиента система рассчитывает стоимость услуг и формирует квитанцию. Она подтверждает факт совершения финансовой операции.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Второй блок – «Документальное оформление отправлений». Его иллюстрирует рисунок на слайде. На базе почтового бланка, описи вложения и сведений об участниках сделки формируется итоговая накладная, которая содержит уникальный идентификатор ИПО. Именно она становится главным сопроводительным документом посылки на всём пути следования.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Третий блок – «Логистический и административный учёт». Он связывает штатное расписание сотрудников и паспорта пунктов приёма и выдачи. Результатом является сводный акт приёма-передачи, фиксирующий передачу партии отправлений и содержащий итоговые финансовые показатели.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Таким образом, в системе можно выделить три уровня обработки данных. Входной уровень – это исходные бумажные и справочные документы. Промежуточный уровень – это расчётные величины, сгенерированные идентификаторы и накопленные сведения о статусах. Результирующий уровень – итоговые документы, которые подтверждают факт оказания услуг и обеспечивают контроль логистики. Именно эту трехуровневую структуру я и закладывал при проектировании базы данных.</a:t>
            </a:r>
          </a:p>
          <a:p>
            <a:pPr algn="l"/>
            <a:endParaRPr lang="ru-RU" i="0" dirty="0"/>
          </a:p>
        </p:txBody>
      </p:sp>
      <p:sp>
        <p:nvSpPr>
          <p:cNvPr id="11278328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503000EB-4D64-1642-136B-253501F84A9C}" type="slidenum">
              <a:rPr lang="ru-RU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133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219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713380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На этапе концептуального проектирования было выделено десять сущностей. Пять из них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–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сильные: «Клиент», «Сотрудник», «Отправление», «Пункт приёма и выдачи» и «Тариф». Они существуют независимо. Ещё пять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слабые, документные: «Накладная», «Квитанция о приёме», «Почтовый бланк», «Опись вложения» и «Акт приёма-передачи».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 таблице на слайде приведены все связи между сущностями. Большинство из них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типа «один-ко-многим» и замыкаются на «Отправление». Клиент может выступать и отправителем, и получателем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это две отдельные связи. Сотрудник оформляет множество отправлений. Пункт приёма и выдачи также связан с отправлением дважды: как пункт приёма и как пункт выдачи. Тариф определяет стоимость для многих посылок.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Документные связи имеют тип «один-к-одному»: каждое отправление оформляется ровно по одной накладной, подтверждается одной квитанцией, сопровождается одним почтовым бланком и может детализироваться одной описью вложения. Отдельно стоит связь «Акт приёма-передачи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содержит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Отправление»: она «один-ко-многим», то есть один акт может включать целую партию посылок. При этом каждое отправление может входить максимум в один акт, что отражает степень участия (0,1).</a:t>
            </a:r>
          </a:p>
        </p:txBody>
      </p:sp>
      <p:sp>
        <p:nvSpPr>
          <p:cNvPr id="11278328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503000EB-4D64-1642-136B-253501F84A9C}" type="slidenum">
              <a:rPr lang="ru-RU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91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8219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0713380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На этапе концептуального проектирования было выделено десять сущностей. Пять из них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 – 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сильные: «Клиент», «Сотрудник», «Отправление», «Пункт приёма и выдачи» и «Тариф». Они существуют независимо. Ещё пять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слабые, документные: «Накладная», «Квитанция о приёме», «Почтовый бланк», «Опись вложения» и «Акт приёма-передачи».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 таблице на слайде приведены все связи между сущностями. Большинство из них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типа «один-ко-многим» и замыкаются на «Отправление». Клиент может выступать и отправителем, и получателем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это две отдельные связи. Сотрудник оформляет множество отправлений. Пункт приёма и выдачи также связан с отправлением дважды: как пункт приёма и как пункт выдачи. Тариф определяет стоимость для многих посылок.</a:t>
            </a:r>
          </a:p>
          <a:p>
            <a:pPr algn="l"/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Документные связи имеют тип «один-к-одному»: каждое отправление оформляется ровно по одной накладной, подтверждается одной квитанцией, сопровождается одним почтовым бланком и может детализироваться одной описью вложения. Отдельно стоит связь «Акт приёма-передачи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содержит </a:t>
            </a:r>
            <a:r>
              <a:rPr lang="en-US" b="0" i="0" dirty="0">
                <a:solidFill>
                  <a:srgbClr val="F9FAFB"/>
                </a:solidFill>
                <a:effectLst/>
                <a:latin typeface="quote-cjk-patch"/>
              </a:rPr>
              <a:t>–</a:t>
            </a: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 Отправление»: она «один-ко-многим», то есть один акт может включать целую партию посылок. При этом каждое отправление может входить максимум в один акт, что отражает степень участия (0,1).</a:t>
            </a:r>
          </a:p>
        </p:txBody>
      </p:sp>
      <p:sp>
        <p:nvSpPr>
          <p:cNvPr id="112783287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503000EB-4D64-1642-136B-253501F84A9C}" type="slidenum">
              <a:rPr lang="ru-RU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857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37387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6129879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Генерация лабиринта сводится к построению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остовного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дерева на графе, что позволяет создавать разнообразные структуры с различными свойствами. Существующие алгоритмы отличаются по принципам работы, временной и пространственной сложности, характеру формируемых структур и степени случайности. Программное средство визуализирует процесс генерации и собирает статистику, включая время выполнения, используемую память и количество шагов алгоритма. Это даёт возможность проводить сравнительный анализ эффективности алгоритмов и наглядно демонстрировать их работу на практике.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475922218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30F12639-9C8A-35D8-BBAB-CAC46DBF997B}" type="slidenum">
              <a:rPr lang="ru-RU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449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79849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81738833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defRPr/>
            </a:pPr>
            <a:endParaRPr lang="ru-RU" dirty="0"/>
          </a:p>
        </p:txBody>
      </p:sp>
      <p:sp>
        <p:nvSpPr>
          <p:cNvPr id="203718963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C6DE7209-C6E0-7376-290C-966E427B58BA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77221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88315358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defRPr/>
            </a:pPr>
            <a:endParaRPr lang="ru-RU"/>
          </a:p>
        </p:txBody>
      </p:sp>
      <p:sp>
        <p:nvSpPr>
          <p:cNvPr id="180772107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C0011872-25FE-7BE6-9BCA-4513147E4881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285349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8811163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Главной особенностью разрабатываемой программы является разделение системы на модули. Интерфейс управляет взаимодействием с пользователем, модуль генерации создаёт лабиринт, алгоритмы реализуют логику построения, визуализация отображает результат, а модуль статистики собирает информацию о работе алгоритмов. Лабиринт хранится как двумерная сетка клеток, каждая клетка знает о стенах, посещении и о том, является ли она входом или выходом. Такая архитектура упрощает поддержку и дальнейшее расширение программы.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91797369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8B792292-C302-4BB9-FD9A-76FC013302BA}" type="slidenum">
              <a:rPr lang="ru-RU"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285349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8811163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Каждая клетка лабиринта – вершина графа, возможные перемещения между клетками – рёбра. Три алгоритма генерации позволяют сравнивать эффективность и свойства разных методов. Программа также собирает статистику: шаги алгоритма, время и использование памяти, что даёт пользователю полную информацию о работе генерации. Такой подход облегчает отладку и дальнейшую оптимизацию.</a:t>
            </a:r>
          </a:p>
        </p:txBody>
      </p:sp>
      <p:sp>
        <p:nvSpPr>
          <p:cNvPr id="1917973699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8B792292-C302-4BB9-FD9A-76FC013302BA}" type="slidenum">
              <a:rPr lang="ru-RU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67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45468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6130059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ru-RU" dirty="0"/>
              <a:t>Программное средство разработано на C++ с использованием стандартной библиотеки </a:t>
            </a:r>
            <a:r>
              <a:rPr lang="ru-RU" dirty="0" err="1"/>
              <a:t>WinAPI</a:t>
            </a:r>
            <a:r>
              <a:rPr lang="ru-RU" dirty="0"/>
              <a:t> для графического интерфейса. При запуске программы происходит инициализация приложения, регистрация класса окна и запуск основного цикла обработки сообщений. Интерфейс предполагается в виде одного окна с возможностью обработки пользовательских событий. Такой выбор инструментов обеспечивает надёжность, скорость работы и удобство создания настольного приложения под Windows.</a:t>
            </a:r>
          </a:p>
        </p:txBody>
      </p:sp>
      <p:sp>
        <p:nvSpPr>
          <p:cNvPr id="137524772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80530514-529C-6CF4-0A66-F57C13DA5225}" type="slidenum">
              <a:rPr lang="ru-RU"/>
              <a:t>13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542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033221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r>
              <a:rPr lang="ru-RU" dirty="0"/>
              <a:t>На данном слайде представлена диаграмма классов разработанного программного средства.</a:t>
            </a:r>
          </a:p>
          <a:p>
            <a:r>
              <a:rPr lang="ru-RU" dirty="0"/>
              <a:t>Центральным элементом системы является класс </a:t>
            </a:r>
            <a:r>
              <a:rPr lang="ru-RU" b="1" dirty="0" err="1"/>
              <a:t>Maze</a:t>
            </a:r>
            <a:r>
              <a:rPr lang="ru-RU" dirty="0"/>
              <a:t>, который инкапсулирует всю основную логику работы программы: хранение структуры лабиринта, запуск алгоритмов генерации, визуализацию и сбор статистических данных.</a:t>
            </a:r>
          </a:p>
          <a:p>
            <a:r>
              <a:rPr lang="ru-RU" dirty="0"/>
              <a:t>Лабиринт состоит из отдельных клеток, каждая из которых описывается классом </a:t>
            </a:r>
            <a:r>
              <a:rPr lang="ru-RU" b="1" dirty="0"/>
              <a:t>Cell</a:t>
            </a:r>
            <a:r>
              <a:rPr lang="ru-RU" dirty="0"/>
              <a:t>. Этот класс хранит информацию о наличии стен с четырёх сторон, состоянии посещения клетки, а также признаках входа и выхода.</a:t>
            </a:r>
          </a:p>
          <a:p>
            <a:r>
              <a:rPr lang="ru-RU" dirty="0"/>
              <a:t>Для реализации алгоритма </a:t>
            </a:r>
            <a:r>
              <a:rPr lang="ru-RU" dirty="0" err="1"/>
              <a:t>Крускала</a:t>
            </a:r>
            <a:r>
              <a:rPr lang="ru-RU" dirty="0"/>
              <a:t> используются вспомогательные классы </a:t>
            </a:r>
            <a:r>
              <a:rPr lang="ru-RU" b="1" dirty="0"/>
              <a:t>Edge</a:t>
            </a:r>
            <a:r>
              <a:rPr lang="ru-RU" dirty="0"/>
              <a:t> и </a:t>
            </a:r>
            <a:r>
              <a:rPr lang="ru-RU" b="1" dirty="0" err="1"/>
              <a:t>UnionFind</a:t>
            </a:r>
            <a:r>
              <a:rPr lang="ru-RU" dirty="0"/>
              <a:t>. Класс Edge описывает возможные соединения между соседними клетками, а </a:t>
            </a:r>
            <a:r>
              <a:rPr lang="ru-RU" dirty="0" err="1"/>
              <a:t>UnionFind</a:t>
            </a:r>
            <a:r>
              <a:rPr lang="ru-RU" dirty="0"/>
              <a:t> реализует структуру непересекающихся множеств и позволяет контролировать связность лабиринта и предотвращать образование циклов.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57672609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61D2797A-CF0D-85DB-8550-F26D1F51115D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542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033221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r>
              <a:rPr lang="ru-RU" dirty="0"/>
              <a:t>На данном слайде показано главное окно программного средства.</a:t>
            </a:r>
          </a:p>
          <a:p>
            <a:r>
              <a:rPr lang="ru-RU" dirty="0"/>
              <a:t>Пользовательский интерфейс реализован с использованием библиотеки </a:t>
            </a:r>
            <a:r>
              <a:rPr lang="ru-RU" dirty="0" err="1"/>
              <a:t>WinAPI</a:t>
            </a:r>
            <a:r>
              <a:rPr lang="ru-RU" dirty="0"/>
              <a:t>, как было сказано раннее, и представляет собой одноконное приложение. Интерфейс позволяет выбрать алгоритм генерации лабиринта, задать размеры сетки и запустить процесс генерации.</a:t>
            </a:r>
          </a:p>
          <a:p>
            <a:r>
              <a:rPr lang="ru-RU" dirty="0"/>
              <a:t>Все действия пользователя обрабатываются через стандартную событийную модель Windows. После нажатия кнопки генерации программа выполняет построение лабиринта выбранным алгоритмом и обновляет отображение результата и статистических данных.</a:t>
            </a:r>
          </a:p>
          <a:p>
            <a:r>
              <a:rPr lang="ru-RU" dirty="0"/>
              <a:t>Интерфейс спроектирован максимально простым и наглядным, чтобы сосредоточить внимание на сравнении работы алгоритмов.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57672609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61D2797A-CF0D-85DB-8550-F26D1F51115D}" type="slidenum">
              <a:rPr lang="ru-RU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1659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85423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0332211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r>
              <a:rPr lang="ru-RU" dirty="0"/>
              <a:t>Здесь представлен результат работы программы после выполнения генерации лабиринта.</a:t>
            </a:r>
          </a:p>
          <a:p>
            <a:r>
              <a:rPr lang="ru-RU" dirty="0"/>
              <a:t>Лабиринт отображается в графическом виде: стены визуализируются линиями, входная клетка выделяется зелёным цветом, а выходная - красным. Это позволяет наглядно оценить структуру полученного лабиринта.</a:t>
            </a:r>
          </a:p>
          <a:p>
            <a:r>
              <a:rPr lang="ru-RU" dirty="0"/>
              <a:t>В верхней части окна выводятся статистические характеристики работы алгоритма, такие как количество шагов, время выполнения и объём используемой памяти.</a:t>
            </a:r>
          </a:p>
          <a:p>
            <a:r>
              <a:rPr lang="ru-RU" dirty="0"/>
              <a:t>Также реализована возможность интерактивной установки входа и выхода с помощью щелчков мыши без повторной генерации лабиринта, что упрощает анализ полученной структуры.</a:t>
            </a:r>
          </a:p>
        </p:txBody>
      </p:sp>
      <p:sp>
        <p:nvSpPr>
          <p:cNvPr id="576726095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61D2797A-CF0D-85DB-8550-F26D1F51115D}" type="slidenum">
              <a:rPr lang="ru-RU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251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82453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2868902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этом слайде представлена таблица с результатами экспериментальной оценки трёх алгоритмов генерации лабиринтов: DFS, Прима и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Крускала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Здесь показаны размеры лабиринтов, количество шагов, время выполнения в миллисекундах и потребление памяти.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посмотреть на количество шагов, видно, что при увеличении размеров лабиринта оно растёт примерно пропорционально числу клеток. Для алгоритма DFS количество шагов чуть больше, чем для других алгоритмов, из-за того, что алгоритм делает возвраты по стеку. Алгоритм Прима демонстрирует наименьшее число шагов – каждая клетка добавляется только один раз. Алгоритм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Крускала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находится где-то посередине, но он требует значительно больше памяти, особенно на больших лабиринтах, потому что хранит список рёбер и структуры множеств.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смотреть на время выполнения, DFS остаётся самым быстрым, Прим немного медленнее, 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Крускал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самый медленный на больших лабиринтах. Эти результаты полностью соответствуют теоретической сложности алгоритмов, о которой говорилось раннее.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целом можно сделать вывод, что DFS наиболее эффективен по времени и памяти, Прим – средний вариант, 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Крускал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требует наибольших вычислительных ресурсов. Таблица наглядно показывает, как различается поведение алгоритмов на практике.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1559422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02146A8B-93D5-9F95-C48D-1B877CC7C881}" type="slidenum">
              <a:rPr lang="ru-RU"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82453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2868902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курсовой работы была достигнута поставленная цель – разработано программное средство для исследования и сравнения алгоритмов генерации лабиринтов.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цели были последовательно решены все поставленные задачи.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Был выполнен обзор существующих алгоритмов генерации лабиринтов;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Проведён сравнительный анализ алгоритмов по временной сложности, потреблению памяти и особенностям реализации;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Разработано графическое программное средство, реализующее выбранные алгоритмы генерации лабиринтов;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Проведена серия экспериментальных исследований, в ходе которых получены практические оценки времени работы, количества шагов и потребления памяти для каждого алгоритма. Экспериментальные результаты подтвердили теоретические оценки сложности.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все поставленные задачи выполнены, а разработанное программное средство может использоваться для экспериментального исследования алгоритмов генерации лабиринтов, а также в учебных и демонстрационных целях.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115594220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02146A8B-93D5-9F95-C48D-1B877CC7C881}" type="slidenum">
              <a:rPr lang="ru-RU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579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16755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0702704" name="Заметки 2"/>
          <p:cNvSpPr>
            <a:spLocks noGrp="1"/>
          </p:cNvSpPr>
          <p:nvPr>
            <p:ph type="body" idx="1"/>
          </p:nvPr>
        </p:nvSpPr>
        <p:spPr bwMode="auto"/>
        <p:txBody>
          <a:bodyPr rtlCol="0"/>
          <a:lstStyle/>
          <a:p>
            <a:pPr>
              <a:defRPr/>
            </a:pPr>
            <a:r>
              <a:rPr lang="ru-RU" dirty="0"/>
              <a:t>Конец</a:t>
            </a:r>
          </a:p>
        </p:txBody>
      </p:sp>
      <p:sp>
        <p:nvSpPr>
          <p:cNvPr id="1322222152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 rtlCol="0"/>
          <a:lstStyle/>
          <a:p>
            <a:pPr>
              <a:defRPr/>
            </a:pPr>
            <a:fld id="{E0FF1D73-5B2F-6E64-3C0D-968666C42B6A}" type="slidenum">
              <a:rPr lang="ru-RU"/>
              <a:t>19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15110-1D85-4C43-8D1D-5966231E2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5AB5EB-BE48-42F0-B83B-11DB28366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C46BE-B0E0-4473-8726-857BFA15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83052C-BBC3-4864-8F86-A302E579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1A619A-D9F8-4848-990F-3F24FDE4C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87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25F6A-7C26-448A-8C34-813361F99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004100-FAC9-4285-BD5A-DC6310A75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73BE87-F223-40E7-97C0-61DF96B7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A496EE-9DB3-405A-AAFB-321FCDFBA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76A415-3803-4082-8CCA-2E2ADF9B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7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94C9A-02B1-4FB9-A172-846FF876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259497-7341-45A2-8C5F-FB09F56E6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99F325-0663-4BEF-959B-DAEE9A49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A3169E-3C02-44B4-B628-A9FE830E7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E1260D-323D-4AEA-994D-97CAAD6D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13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5E910-D2E1-4EE0-AE64-9864C1F3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3C8103-64BD-4968-912A-7CA62C814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5131C6F-EB63-4ACA-8E21-3812F1169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3DCD43-94B0-4F95-93D0-10D249C2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D2287D-FE47-4E7E-90D6-E6498BD0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B1E954-3B4F-4254-9521-BD6B9310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15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B661E-FEAA-4766-A128-DB9532945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2EF436-AC17-42CA-BF76-D5F1CB13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73F57C-EECB-45E4-B73E-93B7F14D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CE433B-948B-4424-87EE-ECE0BE786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4A56C9-C90D-41F2-AAC8-37C43BF8A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AA1D00-2446-483A-9885-0AABDED99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F6C7C3-A618-4502-AE2D-78F50C5F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BBAB66E-C7DD-43C1-AF3B-9BB122A8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92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49383-C188-4828-ACC2-85FCBB5F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992838-38D8-44C1-956A-B7C72A9A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7F6FC9-3040-4D7E-B2D5-C7BFD410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B7585D-B14E-46B6-A1C8-0085874A2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20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CEB7F9-2A7D-4E8D-8C5D-2FFF20A5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D905B7C-F13E-4105-989B-B9D0619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C798B3-60FC-440A-B33C-E543A642D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07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61FF56-C53D-4F3F-AA69-04CB721F5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3AE75E-6F9D-4297-B675-25CC9C17D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6BF530-D2D9-4D9F-9DCD-B16C72AD1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C29C17-7726-4C88-AB05-D6D8F597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64E1EE-7C98-473C-9F4B-67B6DBA2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9888E0-780E-4385-BE43-475C5EF4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61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B6EA-1838-4A98-8900-E76625E2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2CCC9D6-1F37-4B8B-927A-04A5DAD38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5238A4-CD59-4784-AD2E-422EE1444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2CCEBF-A6E0-41E9-BE46-A869A947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925496-F1EE-4AF4-ABFE-C7E40F46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3CF2C2-B475-465C-AC06-86F47908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12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FC043-F6DF-40A1-916B-40D6F13D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1CABA5-3E2B-4D3F-BD4F-D74CFC0B4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307B2-31C8-458B-AD33-D12872FA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0AD524-D974-41F5-AFEF-E65CED13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93BCCF-EE65-4697-8717-AA845477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49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F9027C3-BDBF-48A5-AF8A-BF30DFD4B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017EDB-F18D-4275-B804-8E790BD83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CA502-1520-45EF-A22A-FF73F2AAC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1CF08C-C7D3-4837-B426-F7BBD651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5096B-7562-4647-AF34-1508BD47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52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10A00-12F5-4507-AF49-5BEE10C84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1C7BDC-081C-4166-B892-4714A41FC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38C9E2-42E0-4CBC-9A87-610CB2CAE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0A90C-0F16-4F5F-85DA-11EA3DED68B9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F7172E-2504-4BAE-921D-6173B7C58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702DEB-DBB9-4381-8348-D4FB35D0B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A1704-FB68-4349-BFA9-2811ED694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63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4452229" name="Рисунок 1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10800000">
            <a:off x="0" y="-893"/>
            <a:ext cx="12192000" cy="6859787"/>
          </a:xfrm>
          <a:prstGeom prst="rect">
            <a:avLst/>
          </a:prstGeom>
        </p:spPr>
      </p:pic>
      <p:sp>
        <p:nvSpPr>
          <p:cNvPr id="402882271" name="Title 1"/>
          <p:cNvSpPr txBox="1"/>
          <p:nvPr/>
        </p:nvSpPr>
        <p:spPr bwMode="auto">
          <a:xfrm>
            <a:off x="862088" y="1632170"/>
            <a:ext cx="10892233" cy="473975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defRPr/>
            </a:pPr>
            <a:endParaRPr sz="2800" dirty="0">
              <a:solidFill>
                <a:schemeClr val="bg1"/>
              </a:solidFill>
              <a:latin typeface="Montserrat SemiBold"/>
              <a:cs typeface="Montserrat SemiBold"/>
            </a:endParaRPr>
          </a:p>
          <a:p>
            <a:pPr algn="ctr">
              <a:lnSpc>
                <a:spcPct val="100000"/>
              </a:lnSpc>
              <a:defRPr/>
            </a:pPr>
            <a: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  <a:t>Кафедра информационных технологий</a:t>
            </a:r>
            <a:br>
              <a:rPr lang="ru-RU" sz="24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br>
              <a:rPr lang="en-US" sz="24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r>
              <a:rPr lang="ru-RU" sz="32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  <a:t>РАЗРАБОТКА ПРИЛОЖЕНИЯ БАЗЫ ДАННЫХ СЛУЖБЫ ДОСТАВКИ ПОСЫЛОК</a:t>
            </a:r>
            <a:br>
              <a:rPr lang="en-US" sz="24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br>
              <a:rPr lang="en-US" sz="24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br>
              <a:rPr lang="en-US" sz="2400" b="1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  <a:t>Выполнил: Котельников Дмитрий Александрович, ИВТб23о-1</a:t>
            </a:r>
            <a:b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b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  <a:t>Руководитель: Шиманский С.А., преподаватель кафедры ИТ</a:t>
            </a:r>
            <a:br>
              <a:rPr lang="en-US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br>
              <a:rPr lang="en-US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</a:br>
            <a:r>
              <a:rPr lang="ru-RU" sz="2400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</a:rPr>
              <a:t>Мурманск, 2026</a:t>
            </a:r>
            <a:endParaRPr sz="2400" dirty="0">
              <a:latin typeface="Montserrat SemiBold"/>
              <a:cs typeface="Montserrat SemiBold"/>
            </a:endParaRPr>
          </a:p>
        </p:txBody>
      </p:sp>
      <p:pic>
        <p:nvPicPr>
          <p:cNvPr id="897855764" name="Рисунок 8"/>
          <p:cNvPicPr>
            <a:picLocks noChangeAspect="1"/>
          </p:cNvPicPr>
          <p:nvPr/>
        </p:nvPicPr>
        <p:blipFill>
          <a:blip r:embed="rId4"/>
          <a:srcRect l="7654" t="19556" r="7393" b="22354"/>
          <a:stretch/>
        </p:blipFill>
        <p:spPr bwMode="auto">
          <a:xfrm>
            <a:off x="810424" y="576100"/>
            <a:ext cx="2879249" cy="622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321957" name="Заголовок 2"/>
          <p:cNvSpPr>
            <a:spLocks noGrp="1"/>
          </p:cNvSpPr>
          <p:nvPr>
            <p:ph type="title"/>
          </p:nvPr>
        </p:nvSpPr>
        <p:spPr bwMode="auto">
          <a:xfrm>
            <a:off x="416293" y="476670"/>
            <a:ext cx="8612250" cy="792086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Актуальность и практическая значимость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2115589713" name="Объект 1"/>
          <p:cNvSpPr>
            <a:spLocks noGrp="1"/>
          </p:cNvSpPr>
          <p:nvPr>
            <p:ph idx="1"/>
          </p:nvPr>
        </p:nvSpPr>
        <p:spPr bwMode="auto">
          <a:xfrm>
            <a:off x="808608" y="1523131"/>
            <a:ext cx="10202292" cy="4735552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dirty="0">
                <a:latin typeface="Arial"/>
                <a:cs typeface="Arial"/>
              </a:rPr>
              <a:t>Рост электронной коммерции и объёмов онлайн-заказов приводит к увеличению нагрузки на службы доставки. Обработка больших объёмов данных о посылках без автоматизации сопровождается ошибками, задержками и затрудняет оперативный доступ к информации.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endParaRPr lang="ru-RU" dirty="0">
              <a:latin typeface="Arial"/>
              <a:cs typeface="Arial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dirty="0">
                <a:latin typeface="Arial"/>
                <a:cs typeface="Arial"/>
              </a:rPr>
              <a:t>Разработка приложения базы данных позволяет централизованно хранить информацию, упростить обработку данных и повысить эффективность работы службы доставки.</a:t>
            </a:r>
          </a:p>
        </p:txBody>
      </p:sp>
      <p:sp>
        <p:nvSpPr>
          <p:cNvPr id="1504182603" name="Номер слайда 4"/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 smtClean="0">
                <a:latin typeface="Arial"/>
                <a:cs typeface="Arial"/>
              </a:rPr>
              <a:pPr algn="ctr">
                <a:defRPr/>
              </a:pPr>
              <a:t>2</a:t>
            </a:fld>
            <a:endParaRPr lang="ru-RU" sz="2800" dirty="0">
              <a:latin typeface="Arial"/>
              <a:cs typeface="Arial"/>
            </a:endParaRPr>
          </a:p>
        </p:txBody>
      </p:sp>
      <p:pic>
        <p:nvPicPr>
          <p:cNvPr id="1203982673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27284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Цель и задачи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1879832513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4735553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Цель курсовой работы – разработка приложения базы данных, предназначенного для автоматизации деятельности службы доставки посылок.</a:t>
            </a:r>
            <a:endParaRPr lang="en-US" sz="2400" dirty="0">
              <a:latin typeface="Arial"/>
              <a:cs typeface="Arial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endParaRPr lang="ru-RU" sz="2400" dirty="0">
              <a:latin typeface="Arial"/>
              <a:cs typeface="Arial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Задачи: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проанализировать предметную область и выделить основные бизнес-процессы;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определить основные сущности и связи между ними для построения модели БД;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разработать логическую и физическую структуру базы данных;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реализовать программное приложение для работы с базой данных.</a:t>
            </a:r>
          </a:p>
        </p:txBody>
      </p:sp>
      <p:pic>
        <p:nvPicPr>
          <p:cNvPr id="736640005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22C267-2F97-4839-A786-2744EB16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3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27284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Предметная область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1879832513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874301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Объект: гипотетическая служба доставки посылок «</a:t>
            </a:r>
            <a:r>
              <a:rPr lang="ru-RU" sz="2400" dirty="0" err="1">
                <a:latin typeface="Arial"/>
                <a:cs typeface="Arial"/>
              </a:rPr>
              <a:t>ЭкспрессДоставка</a:t>
            </a:r>
            <a:r>
              <a:rPr lang="ru-RU" sz="2400" dirty="0">
                <a:latin typeface="Arial"/>
                <a:cs typeface="Arial"/>
              </a:rPr>
              <a:t>». Главная деятельность – прием, транспортировка и выдача отправлений.</a:t>
            </a:r>
          </a:p>
        </p:txBody>
      </p:sp>
      <p:pic>
        <p:nvPicPr>
          <p:cNvPr id="736640005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22C267-2F97-4839-A786-2744EB16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4</a:t>
            </a:fld>
            <a:endParaRPr lang="ru-RU" sz="280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2B6F0-B33C-4994-8A8B-3FD0FDDEA06F}"/>
              </a:ext>
            </a:extLst>
          </p:cNvPr>
          <p:cNvSpPr txBox="1"/>
          <p:nvPr/>
        </p:nvSpPr>
        <p:spPr>
          <a:xfrm>
            <a:off x="839417" y="2836309"/>
            <a:ext cx="5371508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Ключевые бизнес-процессы: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регистрация клиентов;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расчет и оформление стоимости;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хранение и выдача отправлений;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управление персоналом и инфраструктурой.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42D5A-CC59-4023-B582-C4503ABC5A59}"/>
              </a:ext>
            </a:extLst>
          </p:cNvPr>
          <p:cNvSpPr txBox="1"/>
          <p:nvPr/>
        </p:nvSpPr>
        <p:spPr bwMode="auto">
          <a:xfrm>
            <a:off x="6130445" y="2836309"/>
            <a:ext cx="537150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Основные проблемы без автоматизации:</a:t>
            </a:r>
            <a:endParaRPr lang="ru-RU"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разрозненное хранение данных о клиентах и посылках;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ошибки ручной обработки;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ограниченные возможности формирования отчетности.</a:t>
            </a:r>
          </a:p>
        </p:txBody>
      </p:sp>
    </p:spTree>
    <p:extLst>
      <p:ext uri="{BB962C8B-B14F-4D97-AF65-F5344CB8AC3E}">
        <p14:creationId xmlns:p14="http://schemas.microsoft.com/office/powerpoint/2010/main" val="169848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27284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Документооборот и информационные потоки</a:t>
            </a:r>
            <a:endParaRPr lang="ru" sz="3600" dirty="0">
              <a:latin typeface="Arial"/>
              <a:cs typeface="Arial"/>
            </a:endParaRPr>
          </a:p>
        </p:txBody>
      </p:sp>
      <p:pic>
        <p:nvPicPr>
          <p:cNvPr id="736640005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22C267-2F97-4839-A786-2744EB16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5</a:t>
            </a:fld>
            <a:endParaRPr lang="ru-RU" sz="2800" dirty="0">
              <a:latin typeface="Arial"/>
              <a:cs typeface="Arial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15ADD2E-80EA-4AFF-920E-F82A62A1C117}"/>
              </a:ext>
            </a:extLst>
          </p:cNvPr>
          <p:cNvGrpSpPr/>
          <p:nvPr/>
        </p:nvGrpSpPr>
        <p:grpSpPr>
          <a:xfrm>
            <a:off x="452332" y="1961356"/>
            <a:ext cx="11287335" cy="3118168"/>
            <a:chOff x="839417" y="1784031"/>
            <a:chExt cx="10346055" cy="2858136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6515E01-6103-483A-8834-1B3358D00CA6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995"/>
            <a:stretch/>
          </p:blipFill>
          <p:spPr bwMode="auto">
            <a:xfrm>
              <a:off x="839417" y="1784032"/>
              <a:ext cx="3188970" cy="285813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FB991E30-6304-496D-BDD1-CD4AF888998B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24" r="34471"/>
            <a:stretch/>
          </p:blipFill>
          <p:spPr bwMode="auto">
            <a:xfrm>
              <a:off x="4417959" y="1784031"/>
              <a:ext cx="3188970" cy="285813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B66395D-9D67-4360-80C4-BED1D24B2F35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95"/>
            <a:stretch/>
          </p:blipFill>
          <p:spPr bwMode="auto">
            <a:xfrm>
              <a:off x="7996502" y="1784031"/>
              <a:ext cx="3188970" cy="285813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4C1EA60-A681-4C33-8FDB-2E44BFA53B44}"/>
              </a:ext>
            </a:extLst>
          </p:cNvPr>
          <p:cNvSpPr txBox="1"/>
          <p:nvPr/>
        </p:nvSpPr>
        <p:spPr bwMode="auto">
          <a:xfrm>
            <a:off x="452332" y="5178583"/>
            <a:ext cx="3479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Arial"/>
                <a:cs typeface="Arial"/>
              </a:rPr>
              <a:t>Обслуживание клиентов и тарификация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50523F-676B-4C6C-A409-DF95188771D9}"/>
              </a:ext>
            </a:extLst>
          </p:cNvPr>
          <p:cNvSpPr txBox="1"/>
          <p:nvPr/>
        </p:nvSpPr>
        <p:spPr bwMode="auto">
          <a:xfrm>
            <a:off x="4356450" y="5178583"/>
            <a:ext cx="3479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Оформление отправлений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C9BB4E-7F94-4657-8E90-FF289CE95500}"/>
              </a:ext>
            </a:extLst>
          </p:cNvPr>
          <p:cNvSpPr txBox="1"/>
          <p:nvPr/>
        </p:nvSpPr>
        <p:spPr bwMode="auto">
          <a:xfrm>
            <a:off x="8260566" y="5178583"/>
            <a:ext cx="3479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Arial"/>
                <a:cs typeface="Arial"/>
              </a:rPr>
              <a:t>Логический учет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153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127284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Концептуальное проектирование</a:t>
            </a:r>
            <a:endParaRPr lang="ru" sz="3600" dirty="0">
              <a:latin typeface="Arial"/>
              <a:cs typeface="Arial"/>
            </a:endParaRPr>
          </a:p>
        </p:txBody>
      </p:sp>
      <p:pic>
        <p:nvPicPr>
          <p:cNvPr id="736640005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22C267-2F97-4839-A786-2744EB16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6</a:t>
            </a:fld>
            <a:endParaRPr lang="ru-RU" sz="2800" dirty="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2B6F0-B33C-4994-8A8B-3FD0FDDEA06F}"/>
              </a:ext>
            </a:extLst>
          </p:cNvPr>
          <p:cNvSpPr txBox="1"/>
          <p:nvPr/>
        </p:nvSpPr>
        <p:spPr>
          <a:xfrm>
            <a:off x="839417" y="1268759"/>
            <a:ext cx="4703427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На этапе определения сущностей были выделены 10 типов сущностей: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Участники: Клиент, Сотрудник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Объект учета: Отправление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Инфраструктура: Пункт приема и выдачи, Тариф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latin typeface="Arial"/>
                <a:cs typeface="Arial"/>
              </a:rPr>
              <a:t>Документы: Накладная, Квитанция, Акт приема-выдачи, Бланк отправления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4BC8E-E952-438C-A44D-EDF29803A973}"/>
              </a:ext>
            </a:extLst>
          </p:cNvPr>
          <p:cNvSpPr txBox="1"/>
          <p:nvPr/>
        </p:nvSpPr>
        <p:spPr bwMode="auto">
          <a:xfrm>
            <a:off x="5542844" y="1215476"/>
            <a:ext cx="4703427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highlight>
                  <a:srgbClr val="FFFF00"/>
                </a:highlight>
                <a:latin typeface="Arial"/>
                <a:cs typeface="Arial"/>
              </a:rPr>
              <a:t>На этапе определения сущностей были выделены 10 типов сущностей: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sz="2400" dirty="0">
              <a:solidFill>
                <a:prstClr val="black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highlight>
                  <a:srgbClr val="FFFF00"/>
                </a:highlight>
                <a:latin typeface="Arial"/>
                <a:cs typeface="Arial"/>
              </a:rPr>
              <a:t>Участники: Клиент, Сотрудник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highlight>
                  <a:srgbClr val="FFFF00"/>
                </a:highlight>
                <a:latin typeface="Arial"/>
                <a:cs typeface="Arial"/>
              </a:rPr>
              <a:t>Объект учета: Отправление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highlight>
                  <a:srgbClr val="FFFF00"/>
                </a:highlight>
                <a:latin typeface="Arial"/>
                <a:cs typeface="Arial"/>
              </a:rPr>
              <a:t>Инфраструктура: Пункт приема и выдачи, Тариф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400" dirty="0">
                <a:solidFill>
                  <a:prstClr val="black"/>
                </a:solidFill>
                <a:highlight>
                  <a:srgbClr val="FFFF00"/>
                </a:highlight>
                <a:latin typeface="Arial"/>
                <a:cs typeface="Arial"/>
              </a:rPr>
              <a:t>Документы: Накладная, Квитанция, Акт приема-выдачи, Бланк отправления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99062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59E3DB-1381-42BE-92E4-0A63A9920A9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2970" y="548322"/>
            <a:ext cx="6622415" cy="5761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640005" name="Рисунок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22C267-2F97-4839-A786-2744EB164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7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8971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480339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0"/>
            <a:ext cx="8189126" cy="792086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Предметная область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1394304543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6000" cy="4735553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Генерация лабиринта сводится к построению </a:t>
            </a:r>
            <a:r>
              <a:rPr lang="ru-RU" sz="2400" dirty="0" err="1">
                <a:latin typeface="Arial"/>
                <a:cs typeface="Arial"/>
              </a:rPr>
              <a:t>остовного</a:t>
            </a:r>
            <a:r>
              <a:rPr lang="ru-RU" sz="2400" dirty="0">
                <a:latin typeface="Arial"/>
                <a:cs typeface="Arial"/>
              </a:rPr>
              <a:t> дерева на графе, что обеспечивает создание связной структуры без циклов и позволяет контролировать характеристики формируемого лабиринта.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endParaRPr lang="ru-RU" sz="2400" dirty="0">
              <a:latin typeface="Arial"/>
              <a:cs typeface="Arial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Существующие алгоритмы различаются по принципам работы, временной и пространственной сложности, характеру получаемых структур и степени случайности.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endParaRPr lang="ru-RU" sz="2400" dirty="0">
              <a:latin typeface="Arial"/>
              <a:cs typeface="Arial"/>
            </a:endParaRP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2400" dirty="0">
                <a:latin typeface="Arial"/>
                <a:cs typeface="Arial"/>
              </a:rPr>
              <a:t>Программное средство должно обеспечивать визуализацию лабиринта, сбор статистических данных о времени выполнения, объёме используемой памяти и количестве шагов.</a:t>
            </a:r>
          </a:p>
        </p:txBody>
      </p:sp>
      <p:pic>
        <p:nvPicPr>
          <p:cNvPr id="593534600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22DD668A-6587-4F3D-BFA3-9839EE22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8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858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910515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0"/>
            <a:ext cx="8189126" cy="792086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Функциональные требования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844981577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4735553"/>
          </a:xfrm>
        </p:spPr>
        <p:txBody>
          <a:bodyPr rtlCol="0" anchor="ctr">
            <a:no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генерация прямоугольных двумерных лабиринтов заданного размера;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реализация нескольких алгоритмов генерации лабиринтов (поиск в глубину, алгоритм Прима, алгоритм </a:t>
            </a:r>
            <a:r>
              <a:rPr lang="ru-RU" sz="2400" dirty="0" err="1">
                <a:latin typeface="Arial"/>
                <a:cs typeface="Arial"/>
              </a:rPr>
              <a:t>Крускала</a:t>
            </a:r>
            <a:r>
              <a:rPr lang="ru-RU" sz="2400" dirty="0">
                <a:latin typeface="Arial"/>
                <a:cs typeface="Arial"/>
              </a:rPr>
              <a:t>);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возможность выбора пользователем алгоритма генерации, размеры лабиринта;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задание входных и выходных точек вручную;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визуализация итогового лабиринта;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2400" dirty="0">
                <a:latin typeface="Arial"/>
                <a:cs typeface="Arial"/>
              </a:rPr>
              <a:t>отображение статистических характеристик работы алгоритмов (время выполнения, использование памяти).</a:t>
            </a:r>
          </a:p>
        </p:txBody>
      </p:sp>
      <p:pic>
        <p:nvPicPr>
          <p:cNvPr id="2071965928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E1121391-5401-4340-9785-EA7F9849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9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3918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6" y="476670"/>
            <a:ext cx="8189127" cy="792086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Нефункциональные требования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454254318" name="Объект 1"/>
          <p:cNvSpPr>
            <a:spLocks noGrp="1"/>
          </p:cNvSpPr>
          <p:nvPr>
            <p:ph idx="1"/>
          </p:nvPr>
        </p:nvSpPr>
        <p:spPr bwMode="auto">
          <a:xfrm>
            <a:off x="1477517" y="1429750"/>
            <a:ext cx="9380984" cy="4735553"/>
          </a:xfrm>
        </p:spPr>
        <p:txBody>
          <a:bodyPr rtlCol="0" anchor="ctr">
            <a:no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dirty="0">
                <a:latin typeface="Arial"/>
                <a:cs typeface="Arial"/>
              </a:rPr>
              <a:t>корректность генерируемых лабиринтов (связность, отсутствие циклов);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dirty="0">
                <a:latin typeface="Arial"/>
                <a:cs typeface="Arial"/>
              </a:rPr>
              <a:t>стабильная работа при различных размерах входных данных;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dirty="0">
                <a:latin typeface="Arial"/>
                <a:cs typeface="Arial"/>
              </a:rPr>
              <a:t>возможность интерактивного задания входных данных, включая размеры лабиринта, выбор алгоритма генерации, а также установка и изменение входной и выходной точек с помощью элементов управления и кликов мыши;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dirty="0">
                <a:latin typeface="Arial"/>
                <a:cs typeface="Arial"/>
              </a:rPr>
              <a:t>наглядный и понятный пользовательский интерфейс.</a:t>
            </a:r>
          </a:p>
        </p:txBody>
      </p:sp>
      <p:pic>
        <p:nvPicPr>
          <p:cNvPr id="1241092137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C770CFE0-ADA8-47EF-BA96-25136247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10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698678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Проектирование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254545266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4735553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Программное средство создаётся как настольное приложение под Windows с модульной архитектурой.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Система разделена на отдельные модули: интерфейс, генерация лабиринта, алгоритмы, визуализация и сбор статистики.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Лабиринт представлен двумерной сеткой клеток, каждая клетка хранит состояние, стены, вход и выход.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Модульная структура обеспечивает удобство разработки и расширяемость системы.</a:t>
            </a:r>
            <a:endParaRPr lang="ru" sz="3200" dirty="0">
              <a:latin typeface="Arial"/>
              <a:cs typeface="Arial"/>
            </a:endParaRPr>
          </a:p>
        </p:txBody>
      </p:sp>
      <p:pic>
        <p:nvPicPr>
          <p:cNvPr id="2056106193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170A4AEC-9E34-4EF5-B9F3-64F48B28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11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698678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Проектирование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254545266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4735553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Лабиринт моделируется как граф: вершинами являются клетки, рёбрами – возможные переходы между ними.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Для генерации используются три алгоритма: поиск в глубину (DFS), алгоритм Прима и алгоритм </a:t>
            </a:r>
            <a:r>
              <a:rPr lang="ru-RU" sz="3200" dirty="0" err="1">
                <a:latin typeface="Arial"/>
                <a:cs typeface="Arial"/>
              </a:rPr>
              <a:t>Крускала</a:t>
            </a:r>
            <a:r>
              <a:rPr lang="ru-RU" sz="3200" dirty="0">
                <a:latin typeface="Arial"/>
                <a:cs typeface="Arial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sz="3200" dirty="0">
                <a:latin typeface="Arial"/>
                <a:cs typeface="Arial"/>
              </a:rPr>
              <a:t>Система фиксирует статистику работы: количество шагов, время выполнения и объём используемой памяти.</a:t>
            </a:r>
          </a:p>
        </p:txBody>
      </p:sp>
      <p:pic>
        <p:nvPicPr>
          <p:cNvPr id="2056106193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ABCBB85C-5A97-4087-A9B1-F20E3680C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12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97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53144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Инструменты разработки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2041379283" name="Объект 1"/>
          <p:cNvSpPr>
            <a:spLocks noGrp="1"/>
          </p:cNvSpPr>
          <p:nvPr>
            <p:ph idx="1"/>
          </p:nvPr>
        </p:nvSpPr>
        <p:spPr bwMode="auto">
          <a:xfrm>
            <a:off x="3581401" y="1429750"/>
            <a:ext cx="7915200" cy="4735553"/>
          </a:xfrm>
        </p:spPr>
        <p:txBody>
          <a:bodyPr rtlCol="0" anchor="ctr">
            <a:no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3200" dirty="0">
                <a:latin typeface="Arial"/>
                <a:cs typeface="Arial"/>
              </a:rPr>
              <a:t>Язык программирования: C++</a:t>
            </a:r>
          </a:p>
          <a:p>
            <a:pPr algn="just">
              <a:lnSpc>
                <a:spcPct val="100000"/>
              </a:lnSpc>
              <a:defRPr/>
            </a:pPr>
            <a:r>
              <a:rPr lang="ru-RU" sz="3200" dirty="0">
                <a:latin typeface="Arial"/>
                <a:cs typeface="Arial"/>
              </a:rPr>
              <a:t>Создание графического интерфейса: </a:t>
            </a:r>
            <a:r>
              <a:rPr lang="ru-RU" sz="3200" dirty="0" err="1">
                <a:latin typeface="Arial"/>
                <a:cs typeface="Arial"/>
              </a:rPr>
              <a:t>WinAPI</a:t>
            </a:r>
            <a:endParaRPr lang="ru-RU" sz="3200" dirty="0">
              <a:latin typeface="Arial"/>
              <a:cs typeface="Arial"/>
            </a:endParaRPr>
          </a:p>
          <a:p>
            <a:pPr algn="just">
              <a:lnSpc>
                <a:spcPct val="100000"/>
              </a:lnSpc>
              <a:defRPr/>
            </a:pPr>
            <a:r>
              <a:rPr lang="ru-RU" sz="3200" dirty="0">
                <a:latin typeface="Arial"/>
                <a:cs typeface="Arial"/>
              </a:rPr>
              <a:t>Реализация одного окна с управлением событиями по типу: нажатие клавиш, кликов мыши и т.д.</a:t>
            </a:r>
            <a:endParaRPr lang="ru" sz="3200" dirty="0">
              <a:latin typeface="Arial"/>
              <a:cs typeface="Arial"/>
            </a:endParaRPr>
          </a:p>
        </p:txBody>
      </p:sp>
      <p:pic>
        <p:nvPicPr>
          <p:cNvPr id="1287607305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2651D35-0EC7-44CB-8A92-2F197789F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89" y="1797637"/>
            <a:ext cx="2761911" cy="184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in Api for PHP · GitHub">
            <a:extLst>
              <a:ext uri="{FF2B5EF4-FFF2-40B4-BE49-F238E27FC236}">
                <a16:creationId xmlns:a16="http://schemas.microsoft.com/office/drawing/2014/main" id="{377D0D68-0974-4658-A330-AF6725534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81" y="3569807"/>
            <a:ext cx="1718528" cy="146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9AC9EC45-DB00-42BD-B005-8ED11EBB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13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16334" name="Заголовок 2"/>
          <p:cNvSpPr>
            <a:spLocks noGrp="1"/>
          </p:cNvSpPr>
          <p:nvPr>
            <p:ph type="title"/>
          </p:nvPr>
        </p:nvSpPr>
        <p:spPr bwMode="auto">
          <a:xfrm>
            <a:off x="770945" y="476672"/>
            <a:ext cx="8257598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Реализация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1655237161" name="Объект 1"/>
          <p:cNvSpPr>
            <a:spLocks noGrp="1"/>
          </p:cNvSpPr>
          <p:nvPr>
            <p:ph idx="1"/>
          </p:nvPr>
        </p:nvSpPr>
        <p:spPr bwMode="auto">
          <a:xfrm>
            <a:off x="6276976" y="1284246"/>
            <a:ext cx="5347060" cy="4735553"/>
          </a:xfrm>
        </p:spPr>
        <p:txBody>
          <a:bodyPr rtlCol="0"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ru-RU" dirty="0">
                <a:latin typeface="Arial"/>
                <a:cs typeface="Arial"/>
              </a:rPr>
              <a:t>В программе реализовано 4 класса: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dirty="0">
                <a:latin typeface="Arial"/>
                <a:cs typeface="Arial"/>
              </a:rPr>
              <a:t>Maze – </a:t>
            </a:r>
            <a:r>
              <a:rPr lang="ru-RU" dirty="0">
                <a:latin typeface="Arial"/>
                <a:cs typeface="Arial"/>
              </a:rPr>
              <a:t>лабиринт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dirty="0">
                <a:latin typeface="Arial"/>
                <a:cs typeface="Arial"/>
              </a:rPr>
              <a:t>Cell – </a:t>
            </a:r>
            <a:r>
              <a:rPr lang="ru-RU" dirty="0">
                <a:latin typeface="Arial"/>
                <a:cs typeface="Arial"/>
              </a:rPr>
              <a:t>ячейка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dirty="0">
                <a:latin typeface="Arial"/>
                <a:cs typeface="Arial"/>
              </a:rPr>
              <a:t>Edge – </a:t>
            </a:r>
            <a:r>
              <a:rPr lang="ru-RU" dirty="0">
                <a:latin typeface="Arial"/>
                <a:cs typeface="Arial"/>
              </a:rPr>
              <a:t>соединение между клетками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dirty="0" err="1">
                <a:latin typeface="Arial"/>
                <a:cs typeface="Arial"/>
              </a:rPr>
              <a:t>UnionFind</a:t>
            </a:r>
            <a:r>
              <a:rPr lang="en-US" dirty="0">
                <a:latin typeface="Arial"/>
                <a:cs typeface="Arial"/>
              </a:rPr>
              <a:t> – </a:t>
            </a:r>
            <a:r>
              <a:rPr lang="ru-RU" dirty="0">
                <a:latin typeface="Arial"/>
                <a:cs typeface="Arial"/>
              </a:rPr>
              <a:t>структура непересекающихся множеств</a:t>
            </a:r>
            <a:endParaRPr lang="ru" dirty="0">
              <a:latin typeface="Arial"/>
              <a:cs typeface="Arial"/>
            </a:endParaRPr>
          </a:p>
        </p:txBody>
      </p:sp>
      <p:pic>
        <p:nvPicPr>
          <p:cNvPr id="894506650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4C8B1D-2C7E-4C93-A45C-8170C09A3D47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9" b="7224"/>
          <a:stretch/>
        </p:blipFill>
        <p:spPr bwMode="auto">
          <a:xfrm>
            <a:off x="770945" y="1215476"/>
            <a:ext cx="4991735" cy="533203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E22A25D6-99AE-4181-BBDA-149F5CBA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14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16334" name="Заголовок 2"/>
          <p:cNvSpPr>
            <a:spLocks noGrp="1"/>
          </p:cNvSpPr>
          <p:nvPr>
            <p:ph type="title"/>
          </p:nvPr>
        </p:nvSpPr>
        <p:spPr bwMode="auto">
          <a:xfrm>
            <a:off x="770945" y="476672"/>
            <a:ext cx="8257598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Реализация</a:t>
            </a:r>
            <a:endParaRPr lang="ru" sz="3600" dirty="0">
              <a:latin typeface="Arial"/>
              <a:cs typeface="Arial"/>
            </a:endParaRPr>
          </a:p>
        </p:txBody>
      </p:sp>
      <p:pic>
        <p:nvPicPr>
          <p:cNvPr id="894506650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6FD2FE-92CB-4E84-AAEB-E778E679A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890" y="1232168"/>
            <a:ext cx="5103707" cy="5149160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758654C9-E3AA-427E-9F4E-66AE9C55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15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997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74FC0D-89B3-44B3-B493-CAFAEE04C3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39598" y="1223822"/>
            <a:ext cx="5120289" cy="5165852"/>
          </a:xfrm>
          <a:prstGeom prst="rect">
            <a:avLst/>
          </a:prstGeom>
        </p:spPr>
      </p:pic>
      <p:sp>
        <p:nvSpPr>
          <p:cNvPr id="253316334" name="Заголовок 2"/>
          <p:cNvSpPr>
            <a:spLocks noGrp="1"/>
          </p:cNvSpPr>
          <p:nvPr>
            <p:ph type="title"/>
          </p:nvPr>
        </p:nvSpPr>
        <p:spPr bwMode="auto">
          <a:xfrm>
            <a:off x="770945" y="476672"/>
            <a:ext cx="8257598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Реализация</a:t>
            </a:r>
            <a:endParaRPr lang="ru" sz="3600" dirty="0">
              <a:latin typeface="Arial"/>
              <a:cs typeface="Arial"/>
            </a:endParaRPr>
          </a:p>
        </p:txBody>
      </p:sp>
      <p:pic>
        <p:nvPicPr>
          <p:cNvPr id="894506650" name="Рисунок 1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6DF0079B-C925-4DC2-9F8A-75C776ECD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16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853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535737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cs typeface="Arial"/>
              </a:rPr>
              <a:t>Экспериментальные оценки сложности алгоритмов</a:t>
            </a:r>
            <a:endParaRPr lang="ru" sz="3600" dirty="0">
              <a:latin typeface="Arial"/>
              <a:cs typeface="Arial"/>
            </a:endParaRPr>
          </a:p>
        </p:txBody>
      </p:sp>
      <p:pic>
        <p:nvPicPr>
          <p:cNvPr id="653861297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89366E4-BAFB-48B0-B641-AC9F3B6E7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58718"/>
              </p:ext>
            </p:extLst>
          </p:nvPr>
        </p:nvGraphicFramePr>
        <p:xfrm>
          <a:off x="933508" y="1730952"/>
          <a:ext cx="8369015" cy="44658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73803">
                  <a:extLst>
                    <a:ext uri="{9D8B030D-6E8A-4147-A177-3AD203B41FA5}">
                      <a16:colId xmlns:a16="http://schemas.microsoft.com/office/drawing/2014/main" val="3241686555"/>
                    </a:ext>
                  </a:extLst>
                </a:gridCol>
                <a:gridCol w="1673803">
                  <a:extLst>
                    <a:ext uri="{9D8B030D-6E8A-4147-A177-3AD203B41FA5}">
                      <a16:colId xmlns:a16="http://schemas.microsoft.com/office/drawing/2014/main" val="3146450978"/>
                    </a:ext>
                  </a:extLst>
                </a:gridCol>
                <a:gridCol w="1673803">
                  <a:extLst>
                    <a:ext uri="{9D8B030D-6E8A-4147-A177-3AD203B41FA5}">
                      <a16:colId xmlns:a16="http://schemas.microsoft.com/office/drawing/2014/main" val="1445622588"/>
                    </a:ext>
                  </a:extLst>
                </a:gridCol>
                <a:gridCol w="1673803">
                  <a:extLst>
                    <a:ext uri="{9D8B030D-6E8A-4147-A177-3AD203B41FA5}">
                      <a16:colId xmlns:a16="http://schemas.microsoft.com/office/drawing/2014/main" val="521594910"/>
                    </a:ext>
                  </a:extLst>
                </a:gridCol>
                <a:gridCol w="1673803">
                  <a:extLst>
                    <a:ext uri="{9D8B030D-6E8A-4147-A177-3AD203B41FA5}">
                      <a16:colId xmlns:a16="http://schemas.microsoft.com/office/drawing/2014/main" val="797920842"/>
                    </a:ext>
                  </a:extLst>
                </a:gridCol>
              </a:tblGrid>
              <a:tr h="8364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Размер лабиринта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Алгоритм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шагов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Время, </a:t>
                      </a: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Память, КБ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041218062"/>
                  </a:ext>
                </a:extLst>
              </a:tr>
              <a:tr h="27222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10×10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562" marR="75562" marT="37781" marB="3778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</a:t>
                      </a:r>
                      <a:r>
                        <a:rPr lang="ru-RU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180248797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</a:t>
                      </a: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3642154086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Kruskal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4255090201"/>
                  </a:ext>
                </a:extLst>
              </a:tr>
              <a:tr h="27222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20×20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562" marR="75562" marT="37781" marB="3778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799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3610820949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651018050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Kruskal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087903809"/>
                  </a:ext>
                </a:extLst>
              </a:tr>
              <a:tr h="27222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30×30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562" marR="75562" marT="37781" marB="3778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258392660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998630381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Kruskal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751585529"/>
                  </a:ext>
                </a:extLst>
              </a:tr>
              <a:tr h="27222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50×50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562" marR="75562" marT="37781" marB="3778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DFS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1574728143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2499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2099602576"/>
                  </a:ext>
                </a:extLst>
              </a:tr>
              <a:tr h="2722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Kruskal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4900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86</a:t>
                      </a:r>
                      <a:endParaRPr lang="ru-RU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84354" marR="84354" marT="0" marB="0" anchor="ctr"/>
                </a:tc>
                <a:extLst>
                  <a:ext uri="{0D108BD9-81ED-4DB2-BD59-A6C34878D82A}">
                    <a16:rowId xmlns:a16="http://schemas.microsoft.com/office/drawing/2014/main" val="3896572621"/>
                  </a:ext>
                </a:extLst>
              </a:tr>
            </a:tbl>
          </a:graphicData>
        </a:graphic>
      </p:graphicFrame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4721472D-39DD-492E-8F24-DE78B152A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17</a:t>
            </a:fld>
            <a:endParaRPr lang="ru-RU" sz="2800" dirty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535737" name="Заголовок 2"/>
          <p:cNvSpPr>
            <a:spLocks noGrp="1"/>
          </p:cNvSpPr>
          <p:nvPr>
            <p:ph type="title"/>
          </p:nvPr>
        </p:nvSpPr>
        <p:spPr bwMode="auto">
          <a:xfrm>
            <a:off x="839417" y="476672"/>
            <a:ext cx="8189126" cy="792087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600" b="1" dirty="0">
                <a:solidFill>
                  <a:srgbClr val="0064BE"/>
                </a:solidFill>
                <a:latin typeface="Arial"/>
                <a:ea typeface="Arial"/>
                <a:cs typeface="Arial"/>
              </a:rPr>
              <a:t>Выводы </a:t>
            </a:r>
            <a:endParaRPr lang="ru" sz="3600" dirty="0">
              <a:latin typeface="Arial"/>
              <a:cs typeface="Arial"/>
            </a:endParaRPr>
          </a:p>
        </p:txBody>
      </p:sp>
      <p:sp>
        <p:nvSpPr>
          <p:cNvPr id="1698258541" name="Объект 1"/>
          <p:cNvSpPr>
            <a:spLocks noGrp="1"/>
          </p:cNvSpPr>
          <p:nvPr>
            <p:ph idx="1"/>
          </p:nvPr>
        </p:nvSpPr>
        <p:spPr bwMode="auto">
          <a:xfrm>
            <a:off x="839417" y="1429750"/>
            <a:ext cx="10657183" cy="4735553"/>
          </a:xfrm>
        </p:spPr>
        <p:txBody>
          <a:bodyPr rtlCol="0" anchor="ctr">
            <a:noAutofit/>
          </a:bodyPr>
          <a:lstStyle/>
          <a:p>
            <a:pPr>
              <a:defRPr/>
            </a:pPr>
            <a:r>
              <a:rPr lang="ru-RU" dirty="0">
                <a:latin typeface="Arial"/>
                <a:cs typeface="Arial"/>
              </a:rPr>
              <a:t>выполнен обзор и анализ алгоритмов генерации лабиринтов;</a:t>
            </a:r>
          </a:p>
          <a:p>
            <a:pPr>
              <a:defRPr/>
            </a:pPr>
            <a:r>
              <a:rPr lang="ru-RU" dirty="0">
                <a:latin typeface="Arial"/>
                <a:cs typeface="Arial"/>
              </a:rPr>
              <a:t>проведён сравнительный анализ алгоритмов по времени и памяти;</a:t>
            </a:r>
          </a:p>
          <a:p>
            <a:pPr>
              <a:defRPr/>
            </a:pPr>
            <a:r>
              <a:rPr lang="ru-RU" dirty="0">
                <a:latin typeface="Arial"/>
                <a:cs typeface="Arial"/>
              </a:rPr>
              <a:t>разработано программное средство генерации лабиринтов;</a:t>
            </a:r>
          </a:p>
          <a:p>
            <a:pPr>
              <a:defRPr/>
            </a:pPr>
            <a:r>
              <a:rPr lang="ru-RU" dirty="0">
                <a:latin typeface="Arial"/>
                <a:cs typeface="Arial"/>
              </a:rPr>
              <a:t>реализованы алгоритмы DFS, Прима и </a:t>
            </a:r>
            <a:r>
              <a:rPr lang="ru-RU" dirty="0" err="1">
                <a:latin typeface="Arial"/>
                <a:cs typeface="Arial"/>
              </a:rPr>
              <a:t>Крускала</a:t>
            </a:r>
            <a:r>
              <a:rPr lang="ru-RU" dirty="0">
                <a:latin typeface="Arial"/>
                <a:cs typeface="Arial"/>
              </a:rPr>
              <a:t>;</a:t>
            </a:r>
          </a:p>
          <a:p>
            <a:pPr>
              <a:defRPr/>
            </a:pPr>
            <a:r>
              <a:rPr lang="ru-RU" dirty="0">
                <a:latin typeface="Arial"/>
                <a:cs typeface="Arial"/>
              </a:rPr>
              <a:t>обеспечена визуализация лабиринта и задание входа/выхода;</a:t>
            </a:r>
          </a:p>
          <a:p>
            <a:pPr>
              <a:defRPr/>
            </a:pPr>
            <a:r>
              <a:rPr lang="ru-RU" dirty="0">
                <a:latin typeface="Arial"/>
                <a:cs typeface="Arial"/>
              </a:rPr>
              <a:t>проведены экспериментальные исследования эффективности алгоритмов.</a:t>
            </a:r>
            <a:endParaRPr lang="ru" dirty="0">
              <a:latin typeface="Arial"/>
              <a:cs typeface="Arial"/>
            </a:endParaRPr>
          </a:p>
        </p:txBody>
      </p:sp>
      <p:pic>
        <p:nvPicPr>
          <p:cNvPr id="653861297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021BD819-F346-4B57-923D-6FB0C493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1480800" y="6258683"/>
            <a:ext cx="711200" cy="599317"/>
          </a:xfrm>
        </p:spPr>
        <p:txBody>
          <a:bodyPr/>
          <a:lstStyle/>
          <a:p>
            <a:pPr algn="ctr">
              <a:defRPr/>
            </a:pPr>
            <a:fld id="{F472062A-0340-1288-16BF-FABB66B09199}" type="slidenum">
              <a:rPr lang="ru-RU" sz="2800">
                <a:latin typeface="Arial"/>
                <a:cs typeface="Arial"/>
              </a:rPr>
              <a:pPr algn="ctr">
                <a:defRPr/>
              </a:pPr>
              <a:t>18</a:t>
            </a:fld>
            <a:endParaRPr lang="ru-RU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331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475995" name="Заголовок 2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0" cy="6858000"/>
          </a:xfrm>
        </p:spPr>
        <p:txBody>
          <a:bodyPr rtlCol="0">
            <a:noAutofit/>
          </a:bodyPr>
          <a:lstStyle/>
          <a:p>
            <a:pPr algn="ctr">
              <a:spcBef>
                <a:spcPts val="0"/>
              </a:spcBef>
              <a:defRPr/>
            </a:pPr>
            <a:r>
              <a:rPr lang="ru-RU" sz="3800" b="1">
                <a:solidFill>
                  <a:srgbClr val="0064BE"/>
                </a:solidFill>
                <a:latin typeface="Arial"/>
                <a:ea typeface="Arial"/>
                <a:cs typeface="Arial"/>
              </a:rPr>
              <a:t>Спасибо за внимание!</a:t>
            </a:r>
            <a:endParaRPr lang="ru" sz="3600">
              <a:latin typeface="Arial"/>
              <a:cs typeface="Arial"/>
            </a:endParaRPr>
          </a:p>
        </p:txBody>
      </p:sp>
      <p:pic>
        <p:nvPicPr>
          <p:cNvPr id="781893374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28543" y="341175"/>
            <a:ext cx="2766174" cy="874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2776</Words>
  <Application>Microsoft Office PowerPoint</Application>
  <PresentationFormat>Широкоэкранный</PresentationFormat>
  <Paragraphs>245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Montserrat SemiBold</vt:lpstr>
      <vt:lpstr>quote-cjk-patch</vt:lpstr>
      <vt:lpstr>Times New Roman</vt:lpstr>
      <vt:lpstr>Тема Office</vt:lpstr>
      <vt:lpstr>Презентация PowerPoint</vt:lpstr>
      <vt:lpstr>Актуальность и практическая значимость</vt:lpstr>
      <vt:lpstr>Цель и задачи</vt:lpstr>
      <vt:lpstr>Предметная область</vt:lpstr>
      <vt:lpstr>Документооборот и информационные потоки</vt:lpstr>
      <vt:lpstr>Концептуальное проектирование</vt:lpstr>
      <vt:lpstr>Презентация PowerPoint</vt:lpstr>
      <vt:lpstr>Предметная область</vt:lpstr>
      <vt:lpstr>Функциональные требования</vt:lpstr>
      <vt:lpstr>Нефункциональные требования</vt:lpstr>
      <vt:lpstr>Проектирование</vt:lpstr>
      <vt:lpstr>Проектирование</vt:lpstr>
      <vt:lpstr>Инструменты разработки</vt:lpstr>
      <vt:lpstr>Реализация</vt:lpstr>
      <vt:lpstr>Реализация</vt:lpstr>
      <vt:lpstr>Реализация</vt:lpstr>
      <vt:lpstr>Экспериментальные оценки сложности алгоритмов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 Котельников</dc:creator>
  <cp:lastModifiedBy>Дмитрий Котельников</cp:lastModifiedBy>
  <cp:revision>119</cp:revision>
  <dcterms:created xsi:type="dcterms:W3CDTF">2026-01-13T07:47:37Z</dcterms:created>
  <dcterms:modified xsi:type="dcterms:W3CDTF">2026-05-14T06:51:42Z</dcterms:modified>
</cp:coreProperties>
</file>