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7" r:id="rId2"/>
    <p:sldId id="259" r:id="rId3"/>
    <p:sldId id="260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93" r:id="rId14"/>
    <p:sldId id="288" r:id="rId15"/>
    <p:sldId id="289" r:id="rId16"/>
    <p:sldId id="290" r:id="rId17"/>
    <p:sldId id="294" r:id="rId18"/>
    <p:sldId id="291" r:id="rId19"/>
    <p:sldId id="269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50059" autoAdjust="0"/>
  </p:normalViewPr>
  <p:slideViewPr>
    <p:cSldViewPr snapToGrid="0">
      <p:cViewPr varScale="1">
        <p:scale>
          <a:sx n="56" d="100"/>
          <a:sy n="56" d="100"/>
        </p:scale>
        <p:origin x="3114" y="60"/>
      </p:cViewPr>
      <p:guideLst/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F13655-5D7E-4452-862A-1179FAD185D5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F95E8C-2935-4269-A502-65DEB863BE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4320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33159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48283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Здравствуйте, уважаемые члены комиссии.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Здравствуйте, уважаемый товарищ преподаватель.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Меня зовут Дмитрий Котельников.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Тема моей курсовой работы – Разработка приложения базы данных службы доставки посылок.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</p:txBody>
      </p:sp>
      <p:sp>
        <p:nvSpPr>
          <p:cNvPr id="874325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1DF6BA-EFF5-5C00-F511-01F46B541855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1936162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3478903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r>
              <a:rPr lang="ru-RU" dirty="0"/>
              <a:t>В условиях стремительного развития онлайн-торговли объёмы отправлений растут с каждым годом. Службы доставки ежедневно обрабатывают сотни и тысячи посылок. При отсутствии автоматизированной системы данные зачастую хранятся разрозненно, возникают ошибки ручного ввода. Всё это приводит к снижению качества обслуживания и финансовым потерям. Разработка базы данных, являющейся ядром информационной системы, позволяет централизовать всю информацию, автоматизировать ключевые операции - от приёма посылки до её выдачи - и тем самым повысить эффективность работы службы доставки.</a:t>
            </a:r>
          </a:p>
        </p:txBody>
      </p:sp>
      <p:sp>
        <p:nvSpPr>
          <p:cNvPr id="97090811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64CEAE08-5A62-B28E-4FFB-F90A7C6D2CB6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>
              <a:defRPr/>
            </a:pPr>
            <a:r>
              <a:rPr lang="ru-RU" dirty="0"/>
              <a:t>Целью данной курсовой работы является разработка приложения базы данных, предназначенного для автоматизации деятельности службы доставки посылок.</a:t>
            </a:r>
          </a:p>
          <a:p>
            <a:pPr>
              <a:defRPr/>
            </a:pPr>
            <a:endParaRPr lang="ru-RU" dirty="0"/>
          </a:p>
          <a:p>
            <a:pPr>
              <a:defRPr/>
            </a:pPr>
            <a:r>
              <a:rPr lang="ru-RU" dirty="0"/>
              <a:t>Для достижения этой цели были поставлены следующие задачи, с которыми вы можете ознакомиться на слайде.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 качестве объекта разработки рассматривается гипотетическая организация – служба доставки посылок «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ЭкспрессДоставка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».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Основная деятельность – принятие, перевозка и выдача посылок физическим лицам.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 организации три подразделения: пункты приема-выдачи, транспортный отдел и администрация.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Ключевые бизнес-процессы – регистрация клиентов, оформление отправлений, расчет стоимости, отслеживание статусов, хранение и выдача, управление персоналом.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Эффективность работы зависит от скорости обработки заказов и точности учета. Но сейчас автоматизации нет. Данные разрознены, ошибки при ручном вводе неизбежны, аналитика ограничена.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Поэтому необходимо разработать клиент-серверное приложение базы данных. Оно централизует хранение информации, автоматизирует процессы и обеспечит быстрый доступ к данным.</a:t>
            </a:r>
            <a:endParaRPr lang="ru-RU" i="0" dirty="0"/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535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r>
              <a:rPr lang="ru-RU" b="0" dirty="0"/>
              <a:t>Входная информация поступает из нескольких источников: это бумажные формы – почтовый бланк и опись, а также справочные данные – тарифы, карточки клиентов, штатное расписание и паспорта пунктов. На их основе система формирует результатную информацию: квитанцию, накладную с уникальным идентификатором ИПО и сводный акт приема-передачи</a:t>
            </a:r>
          </a:p>
          <a:p>
            <a:endParaRPr lang="ru-RU" b="0" u="none" strike="noStrike" dirty="0">
              <a:effectLst/>
              <a:latin typeface="Google Sans"/>
            </a:endParaRPr>
          </a:p>
          <a:p>
            <a:r>
              <a:rPr lang="ru-RU" b="0" u="none" strike="noStrike" dirty="0">
                <a:effectLst/>
                <a:latin typeface="Google Sans"/>
              </a:rPr>
              <a:t>Первый блок </a:t>
            </a:r>
            <a:r>
              <a:rPr lang="ru-RU" b="0" dirty="0"/>
              <a:t>–</a:t>
            </a:r>
            <a:r>
              <a:rPr lang="ru-RU" b="0" u="none" strike="noStrike" dirty="0">
                <a:effectLst/>
                <a:latin typeface="Google Sans"/>
              </a:rPr>
              <a:t> обслуживание и тарификация. Система берет данные клиента и тарифы, рассчитывает стоимость и выдает квитанцию.</a:t>
            </a:r>
          </a:p>
          <a:p>
            <a:r>
              <a:rPr lang="ru-RU" b="0" u="none" strike="noStrike" dirty="0">
                <a:effectLst/>
                <a:latin typeface="Google Sans"/>
              </a:rPr>
              <a:t>Второй блок </a:t>
            </a:r>
            <a:r>
              <a:rPr lang="ru-RU" b="0" dirty="0"/>
              <a:t>–</a:t>
            </a:r>
            <a:r>
              <a:rPr lang="ru-RU" b="0" u="none" strike="noStrike" dirty="0">
                <a:effectLst/>
                <a:latin typeface="Google Sans"/>
              </a:rPr>
              <a:t> документальное оформление. На основе бланков и описей создается накладная с уникальным трек-номером. Это главный сопроводительный документ посылки.</a:t>
            </a:r>
          </a:p>
          <a:p>
            <a:r>
              <a:rPr lang="ru-RU" b="0" u="none" strike="noStrike" dirty="0">
                <a:effectLst/>
                <a:latin typeface="Google Sans"/>
              </a:rPr>
              <a:t>Третий блок </a:t>
            </a:r>
            <a:r>
              <a:rPr lang="ru-RU" b="0" dirty="0"/>
              <a:t>–</a:t>
            </a:r>
            <a:r>
              <a:rPr lang="ru-RU" b="0" u="none" strike="noStrike" dirty="0">
                <a:effectLst/>
                <a:latin typeface="Google Sans"/>
              </a:rPr>
              <a:t> логистический учет. Он связывает данные сотрудников и пунктов выдачи, формируя сводные акты приема-передачи партий.</a:t>
            </a:r>
          </a:p>
          <a:p>
            <a:endParaRPr lang="ru-RU" b="0" u="none" strike="noStrike" dirty="0">
              <a:effectLst/>
              <a:latin typeface="Google Sans"/>
            </a:endParaRPr>
          </a:p>
          <a:p>
            <a:r>
              <a:rPr lang="ru-RU" b="0" u="none" strike="noStrike" dirty="0">
                <a:effectLst/>
                <a:latin typeface="Google Sans"/>
              </a:rPr>
              <a:t>Таким образом, первичные бумажные документы и справочники трансформируются в расчетные величины, а на выходе мы получаем итоговые документы для контроля всей логистики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9133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На этапе концептуального проектирования после анализа бизнес-процессов и документооборота было выделено </a:t>
            </a:r>
            <a:r>
              <a:rPr lang="ru-RU" b="1" i="0" dirty="0">
                <a:solidFill>
                  <a:srgbClr val="F9FAFB"/>
                </a:solidFill>
                <a:effectLst/>
                <a:latin typeface="+mj-lt"/>
              </a:rPr>
              <a:t>10 основных сущностей</a:t>
            </a: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С сильными и слабыми сущностями можно ознакомиться на слайде.</a:t>
            </a: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+mj-lt"/>
              </a:rPr>
              <a:t>Сильные сущности</a:t>
            </a: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 существуют независимо и не привязаны к другим объектам.</a:t>
            </a: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+mj-lt"/>
              </a:rPr>
              <a:t>Слабые сущности </a:t>
            </a: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– их существование напрямую зависит какой либо сущности. В данном случае от отправления – без посылки эти документы теряют смысл.</a:t>
            </a:r>
          </a:p>
          <a:p>
            <a:pPr algn="l"/>
            <a:br>
              <a:rPr lang="ru-RU" b="0" i="0" dirty="0">
                <a:solidFill>
                  <a:srgbClr val="F9FAFB"/>
                </a:solidFill>
                <a:effectLst/>
                <a:latin typeface="+mj-lt"/>
              </a:rPr>
            </a:b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Так же были проанализированы связи между сущностями:</a:t>
            </a:r>
            <a:endParaRPr lang="en-US" b="0" i="0" dirty="0">
              <a:solidFill>
                <a:srgbClr val="F9FAFB"/>
              </a:solidFill>
              <a:effectLst/>
              <a:latin typeface="+mj-lt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клиент может отправлять и получать множество отправлений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сотрудник оформляет множество отправлений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пункт приема и выдачи принимает и выдает множество посылок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тариф определяет стоимость доставок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Документы (накладная, квитанция, бланк, опись) связаны с отправлением преимущественно как </a:t>
            </a:r>
            <a:r>
              <a:rPr lang="ru-RU" b="1" i="0" dirty="0">
                <a:solidFill>
                  <a:srgbClr val="F9FAFB"/>
                </a:solidFill>
                <a:effectLst/>
                <a:latin typeface="+mj-lt"/>
              </a:rPr>
              <a:t>1:1</a:t>
            </a: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, а акт приема-передачи может содержать </a:t>
            </a:r>
            <a:r>
              <a:rPr lang="ru-RU" b="1" i="0" dirty="0">
                <a:solidFill>
                  <a:srgbClr val="F9FAFB"/>
                </a:solidFill>
                <a:effectLst/>
                <a:latin typeface="+mj-lt"/>
              </a:rPr>
              <a:t>много отправлений</a:t>
            </a:r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+mj-lt"/>
              </a:rPr>
              <a:t>Таким образом, все сущности и связи были полностью задокументированы, что позволило перейти к построению ER-модели.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93916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Хорошо видно, что Отправление находится в центре модели и соединяется с клиентом, сотрудником, пунктом и документами.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Диаграмма Чена позволила наглядно представить концептуальную модель разрабатываемой базы данных, выявить все зависимости и подготовить основу для последующего перехода к логическому проектированию.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38570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r>
              <a:rPr lang="ru-RU" b="0" u="none" strike="noStrike" dirty="0">
                <a:effectLst/>
                <a:latin typeface="Google Sans"/>
              </a:rPr>
              <a:t>На этапе логического проектирования я привел концептуальную модель к третьей нормальной форме. Проверка на соответствие более высоким формам (НФБК, 4НФ и 5НФ) показала, что дальнейшая декомпозиция не требуется.</a:t>
            </a:r>
          </a:p>
          <a:p>
            <a:r>
              <a:rPr lang="ru-RU" b="0" u="none" strike="noStrike" dirty="0">
                <a:effectLst/>
                <a:latin typeface="Google Sans"/>
              </a:rPr>
              <a:t>В ходе нормализации я выполнил пять ключевых шагов:</a:t>
            </a:r>
          </a:p>
          <a:p>
            <a:pPr>
              <a:buFont typeface="+mj-lt"/>
              <a:buAutoNum type="arabicPeriod"/>
            </a:pPr>
            <a:r>
              <a:rPr lang="ru-RU" b="0" u="none" strike="noStrike" dirty="0">
                <a:effectLst/>
                <a:latin typeface="Google Sans"/>
              </a:rPr>
              <a:t>Удалил избыточность: исключил полностью дублирующие сущности – «Накладную», «Почтовый бланк» и «Опись вложения». Теперь эти документы формируются динамически через SQL-запросы.</a:t>
            </a:r>
          </a:p>
          <a:p>
            <a:pPr>
              <a:buFont typeface="+mj-lt"/>
              <a:buAutoNum type="arabicPeriod"/>
            </a:pPr>
            <a:r>
              <a:rPr lang="ru-RU" b="0" u="none" strike="noStrike" dirty="0" err="1">
                <a:effectLst/>
                <a:latin typeface="Google Sans"/>
              </a:rPr>
              <a:t>Атомизировал</a:t>
            </a:r>
            <a:r>
              <a:rPr lang="ru-RU" b="0" u="none" strike="noStrike" dirty="0">
                <a:effectLst/>
                <a:latin typeface="Google Sans"/>
              </a:rPr>
              <a:t> данные: разбил составные атрибуты (ФИО, адрес, габариты) на отдельные простые поля.</a:t>
            </a:r>
          </a:p>
          <a:p>
            <a:pPr>
              <a:buFont typeface="+mj-lt"/>
              <a:buAutoNum type="arabicPeriod"/>
            </a:pPr>
            <a:r>
              <a:rPr lang="ru-RU" b="0" u="none" strike="noStrike" dirty="0">
                <a:effectLst/>
                <a:latin typeface="Google Sans"/>
              </a:rPr>
              <a:t>Вынес многозначные атрибуты: перенес их в отдельные сущности – «Особый график работы» и «Услуги пункта».</a:t>
            </a:r>
          </a:p>
          <a:p>
            <a:pPr>
              <a:buFont typeface="+mj-lt"/>
              <a:buAutoNum type="arabicPeriod"/>
            </a:pPr>
            <a:r>
              <a:rPr lang="ru-RU" b="0" u="none" strike="noStrike" dirty="0">
                <a:effectLst/>
                <a:latin typeface="Google Sans"/>
              </a:rPr>
              <a:t>Устранил транзитивные зависимости: из сущности «Сотрудник» выделил «Должность» с тарифной ставкой, а текстовые упоминания заменил внешними ключами.</a:t>
            </a:r>
          </a:p>
          <a:p>
            <a:pPr>
              <a:buFont typeface="+mj-lt"/>
              <a:buAutoNum type="arabicPeriod"/>
            </a:pPr>
            <a:r>
              <a:rPr lang="ru-RU" b="0" u="none" strike="noStrike" dirty="0">
                <a:effectLst/>
                <a:latin typeface="Google Sans"/>
              </a:rPr>
              <a:t>Разрешил связи «многие ко многим»: создал связующие таблицы «Услуги пункта» и «Состав акта».</a:t>
            </a:r>
          </a:p>
          <a:p>
            <a:r>
              <a:rPr lang="ru-RU" b="0" u="none" strike="noStrike" dirty="0">
                <a:effectLst/>
                <a:latin typeface="Google Sans"/>
              </a:rPr>
              <a:t>Результатом стала оптимизированная схема базы данных без риска аномалий.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7103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Нормализация позволила устранить основные аномалии.</a:t>
            </a: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Аномалия вставки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исключена – все обязательные связи имеют ограничение NOT NULL. Попытка создать отправление без привязки к клиенту, сотруднику или тарифу будет отклонена.</a:t>
            </a: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Аномалия удаления</a:t>
            </a:r>
            <a:r>
              <a:rPr lang="ru-RU" b="0" i="0" dirty="0">
                <a:solidFill>
                  <a:srgbClr val="F9FAFB"/>
                </a:solidFill>
                <a:effectLst/>
                <a:latin typeface="Inter"/>
              </a:rPr>
              <a:t> решена на уровне бизнес-логики – физическое удаление отправлений запрещено, вместо этого используются завершающие статусы.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Аномалия модификации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устранена за счёт отсутствия дублирования данных. Изменение тарифа или названия должности производится в одном месте.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08263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Задача физического этапа – перевести эту модель в конкретную целевую СУБД.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 качестве платформы выбрана MySQL. Это реляционная система, обеспечивающая поддержку ссылочной целостности,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транзакционность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и многопользовательский режим – что для нашей задачи автоматизации службы доставки критически важно.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Развёртывание выполнено инструментом MySQL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Workbench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. Именно в этой среде осуществлялись: написание SQL-скриптов, прямое и обратное проектирование, отладка хранимого кода и финальная генерация физической схемы. Таким образом, мы имеем полностью инструментированный и воспроизводимый процесс развёртывания базы данных на любом сервере MySQL.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4765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Перед вами результат обратного проектирования – финальная физическая схема базы данных.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На схеме отражены все тринадцать таблиц нашей базы данных. Ядром системы выступает таблица 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shipment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– «Отправление» – вокруг которой сосредоточены основные связи.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На этой схеме видно, что все связи реализованы внешними ключами, типы связей проставлены корректно, каскадное поведение определено бизнес-правилами. Это наглядное подтверждение того, что физическая структура полностью соответствует логической модели и готова к эксплуатации.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309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На этом слайде представлен декларативный уровень поддержки целостности, который закладывается непосредственно в DDL-скриптах при создании таблиц.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 разрабатываемой базе данных были реализованы ограничения целостности. Во-первых, это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сущностей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первичные ключи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.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Во-вторых, ограничения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NOT NULL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гарантируют, что критически важные атрибуты – например, идентификаторы, адреса или расчетные суммы – никогда не останутся пустыми. Для исключения дубликатов контактных данных мы применили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UNIQUE KEY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Отдельно стоит выделить ограничения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CHECK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. Помимо стандартной проверки положительных значений для веса или тарифа, использован оператор REGEXP для контроля формата ввода паспортных данных и почтовых индексов, что предотвращает некорректный ввод на уровне БД. Также ссылочная целостность гарантируется внешними ключами, а значения по умолчанию, такие как статус «Принято», ускоряют вставку записей.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Таким образом, ядро целостности обеспечено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аппаратно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средствами СУБД.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5796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r>
              <a:rPr lang="ru-RU" b="0" u="none" strike="noStrike" dirty="0">
                <a:effectLst/>
                <a:latin typeface="Google Sans"/>
              </a:rPr>
              <a:t>Декларативных средств СУБД оказалось недостаточно для контроля бизнес-логики. Поэтому я реализовал три триггера.</a:t>
            </a:r>
          </a:p>
          <a:p>
            <a:pPr>
              <a:buFont typeface="Arial" panose="020B0604020202020204" pitchFamily="34" charset="0"/>
              <a:buNone/>
            </a:pPr>
            <a:r>
              <a:rPr lang="ru-RU" b="0" u="none" strike="noStrike" dirty="0">
                <a:effectLst/>
                <a:latin typeface="Google Sans"/>
              </a:rPr>
              <a:t>Главный триггер – контролирует статус отправлений. Он работает как конечный автомат и жестко задает последовательность шагов. Например: из статуса «Принято» можно перейти только в «В пути». Любые нештатные изменения или пропуски этапов блокируются.</a:t>
            </a:r>
          </a:p>
          <a:p>
            <a:pPr>
              <a:buFont typeface="Arial" panose="020B0604020202020204" pitchFamily="34" charset="0"/>
              <a:buNone/>
            </a:pPr>
            <a:r>
              <a:rPr lang="ru-RU" b="0" u="none" strike="noStrike" dirty="0">
                <a:effectLst/>
                <a:latin typeface="Google Sans"/>
              </a:rPr>
              <a:t>Второй триггер – запрещает удалять активные отправления. Это гарантирует сохранность текущих данных.</a:t>
            </a:r>
          </a:p>
          <a:p>
            <a:pPr>
              <a:buFont typeface="Arial" panose="020B0604020202020204" pitchFamily="34" charset="0"/>
              <a:buNone/>
            </a:pPr>
            <a:r>
              <a:rPr lang="ru-RU" b="0" u="none" strike="noStrike" dirty="0">
                <a:effectLst/>
                <a:latin typeface="Google Sans"/>
              </a:rPr>
              <a:t>Третий триггер – очищает архив. При удалении закрытого отправления он </a:t>
            </a:r>
            <a:r>
              <a:rPr lang="ru-RU" b="0" u="none" strike="noStrike" dirty="0" err="1">
                <a:effectLst/>
                <a:latin typeface="Google Sans"/>
              </a:rPr>
              <a:t>каскадно</a:t>
            </a:r>
            <a:r>
              <a:rPr lang="ru-RU" b="0" u="none" strike="noStrike" dirty="0">
                <a:effectLst/>
                <a:latin typeface="Google Sans"/>
              </a:rPr>
              <a:t> стирает связанные строки, сохраняя целостность базы.</a:t>
            </a:r>
          </a:p>
          <a:p>
            <a:r>
              <a:rPr lang="ru-RU" b="0" u="none" strike="noStrike" dirty="0">
                <a:effectLst/>
                <a:latin typeface="Google Sans"/>
              </a:rPr>
              <a:t>Эти триггеры полностью защищают систему от логических ошибок пользователей.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1855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marL="0" indent="0"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Были разработаны представления, хранимые процедуры и функции.</a:t>
            </a:r>
          </a:p>
          <a:p>
            <a:pPr marL="0" indent="0"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Представления решают пять ключевых задач: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список сотрудников с сортировкой по фамилии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полная сводка по отправлениям с вычисляемыми полями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статистика загрузки каждого пункта выдачи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выявление активных отправителей выше среднего уровня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контроль невостребованных отправлений с расчётом дней хранения</a:t>
            </a:r>
          </a:p>
          <a:p>
            <a:pPr marL="0" indent="0"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Функция автоматически рассчитывает стоимость доставки на основе тарифа, веса,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негабаритности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и хрупкости.</a:t>
            </a:r>
          </a:p>
          <a:p>
            <a:pPr marL="0" indent="0"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Процедуры автоматизируют две операции: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приёмка партии посылок по акту – меняет статус всех отправлений из акта на «Готова к выдаче» и проверяет существование документа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утилизация просроченных невостребованных посылок – переводит в статус «Утилизирована» все отправления, которые находятся в пункте выдачи дольше заданного количества дней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608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обеспечения информационной безопасности и соблюдения зон ответственности была спроектирована ролевая модель, включающая четыре учетные записи. Права предоставляются оператором GRANT строго по принципу минимальных привилегий.</a:t>
            </a:r>
          </a:p>
          <a:p>
            <a:r>
              <a:rPr lang="ru-RU" b="0" u="none" strike="noStrike" dirty="0">
                <a:effectLst/>
                <a:latin typeface="Google Sans"/>
              </a:rPr>
              <a:t>Для защиты данных я спроектировал ролевую модель на базе четырех учетных записей. Права выдаются через оператор GRANT по принципу минимальных привилегий.</a:t>
            </a:r>
          </a:p>
          <a:p>
            <a:pPr>
              <a:buFont typeface="Arial" panose="020B0604020202020204" pitchFamily="34" charset="0"/>
              <a:buNone/>
            </a:pPr>
            <a:r>
              <a:rPr lang="ru-RU" b="0" u="none" strike="noStrike" dirty="0">
                <a:effectLst/>
                <a:latin typeface="Google Sans"/>
              </a:rPr>
              <a:t>Системный администратор </a:t>
            </a:r>
            <a:r>
              <a:rPr lang="en-US" b="0" u="none" strike="noStrike" dirty="0">
                <a:effectLst/>
                <a:latin typeface="Google Sans"/>
              </a:rPr>
              <a:t>–</a:t>
            </a:r>
            <a:r>
              <a:rPr lang="ru-RU" b="0" u="none" strike="noStrike" dirty="0">
                <a:effectLst/>
                <a:latin typeface="Google Sans"/>
              </a:rPr>
              <a:t> владелец базы. Имеет полный доступ к структуре, тарифам и правам.</a:t>
            </a:r>
          </a:p>
          <a:p>
            <a:pPr>
              <a:buFont typeface="Arial" panose="020B0604020202020204" pitchFamily="34" charset="0"/>
              <a:buNone/>
            </a:pPr>
            <a:r>
              <a:rPr lang="ru-RU" b="0" u="none" strike="noStrike" dirty="0">
                <a:effectLst/>
                <a:latin typeface="Google Sans"/>
              </a:rPr>
              <a:t>Администратор пункта </a:t>
            </a:r>
            <a:r>
              <a:rPr lang="en-US" b="0" u="none" strike="noStrike" dirty="0">
                <a:effectLst/>
                <a:latin typeface="Google Sans"/>
              </a:rPr>
              <a:t>–</a:t>
            </a:r>
            <a:r>
              <a:rPr lang="ru-RU" b="0" u="none" strike="noStrike" dirty="0">
                <a:effectLst/>
                <a:latin typeface="Google Sans"/>
              </a:rPr>
              <a:t> управляет только данными своего филиала: сотрудниками, посылками и актами. Доступ к изменению общих тарифов для него заблокирован.</a:t>
            </a:r>
          </a:p>
          <a:p>
            <a:pPr>
              <a:buFont typeface="Arial" panose="020B0604020202020204" pitchFamily="34" charset="0"/>
              <a:buNone/>
            </a:pPr>
            <a:r>
              <a:rPr lang="ru-RU" b="0" u="none" strike="noStrike" dirty="0">
                <a:effectLst/>
                <a:latin typeface="Google Sans"/>
              </a:rPr>
              <a:t>Оператор </a:t>
            </a:r>
            <a:r>
              <a:rPr lang="en-US" b="0" u="none" strike="noStrike" dirty="0">
                <a:effectLst/>
                <a:latin typeface="Google Sans"/>
              </a:rPr>
              <a:t>–</a:t>
            </a:r>
            <a:r>
              <a:rPr lang="ru-RU" b="0" u="none" strike="noStrike" dirty="0">
                <a:effectLst/>
                <a:latin typeface="Google Sans"/>
              </a:rPr>
              <a:t> выполняет текущие операции. Регистрирует клиентов и оформляет документы. Изменяет только те таблицы, с которыми работает напрямую.</a:t>
            </a:r>
          </a:p>
          <a:p>
            <a:pPr>
              <a:buFont typeface="Arial" panose="020B0604020202020204" pitchFamily="34" charset="0"/>
              <a:buNone/>
            </a:pPr>
            <a:r>
              <a:rPr lang="ru-RU" b="0" u="none" strike="noStrike" dirty="0">
                <a:effectLst/>
                <a:latin typeface="Google Sans"/>
              </a:rPr>
              <a:t>Курьер </a:t>
            </a:r>
            <a:r>
              <a:rPr lang="en-US" b="0" u="none" strike="noStrike" dirty="0">
                <a:effectLst/>
                <a:latin typeface="Google Sans"/>
              </a:rPr>
              <a:t>–</a:t>
            </a:r>
            <a:r>
              <a:rPr lang="ru-RU" b="0" u="none" strike="noStrike" dirty="0">
                <a:effectLst/>
                <a:latin typeface="Google Sans"/>
              </a:rPr>
              <a:t> имеет максимальные ограничения. Видит только список отправлений и меняет единственный атрибут </a:t>
            </a:r>
            <a:r>
              <a:rPr lang="en-US" b="0" u="none" strike="noStrike" dirty="0">
                <a:effectLst/>
                <a:latin typeface="Google Sans"/>
              </a:rPr>
              <a:t>–</a:t>
            </a:r>
            <a:r>
              <a:rPr lang="ru-RU" b="0" u="none" strike="noStrike" dirty="0">
                <a:effectLst/>
                <a:latin typeface="Google Sans"/>
              </a:rPr>
              <a:t> статус доставки. Клиентские и финансовые данные ему недоступны.</a:t>
            </a:r>
          </a:p>
          <a:p>
            <a:r>
              <a:rPr lang="ru-RU" b="0" u="none" strike="noStrike" dirty="0">
                <a:effectLst/>
                <a:latin typeface="Google Sans"/>
              </a:rPr>
              <a:t>Такой подход исключает несанкционированный доступ и локализует ошибки в рамках конкретной роли.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4606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Разработка велась на платформе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React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с использованием сборщика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Vite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что обеспечило высокую скорость работы и отзывчивость интерфейса. Приложение построено по компонентному принципу: каждый элемент – кнопка, форма, таблица – представляет собой самостоятельный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переиспользуемый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компонент, что упрощает поддержку и модификацию кода.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Маршрутизация реализована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React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Router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благодаря чему переходы между разделами происходят мгновенно, без перезагрузки страницы.</a:t>
            </a:r>
          </a:p>
          <a:p>
            <a:pPr algn="l"/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Особое внимание уделено безопасности. Обмен данными с сервером защищен аутентификацией через API. Токен сохраняется в локальном хранилище браузера, а при его отсутствии система перенаправляет на страницу входа. На слайде представлена эта форма. Навигация в приложении динамическая и зависит от роли пользователя. Администратор управляет справочниками, тарифами и отчетами. Сотрудник работает с заказами и актами. Интерфейс для работы с актами показан на втором скриншоте. Экранные формы созданы для всех ключевых сущностей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2503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dirty="0"/>
              <a:t>В клиентском приложении разработан раздел отчетности для автоматического формирования документов из базы данных. Реализовано пять видов отчетов под задачи службы доставки. Ключевые представлены на слайде. Это </a:t>
            </a:r>
            <a:r>
              <a:rPr lang="ru-RU" b="1" u="none" strike="noStrike" dirty="0">
                <a:effectLst/>
                <a:latin typeface="Google Sans"/>
              </a:rPr>
              <a:t>акт приема-передачи</a:t>
            </a:r>
            <a:r>
              <a:rPr lang="ru-RU" dirty="0"/>
              <a:t>, который юридически фиксирует передачу посылок с указанием их состава, и </a:t>
            </a:r>
            <a:r>
              <a:rPr lang="ru-RU" b="1" u="none" strike="noStrike" dirty="0">
                <a:effectLst/>
                <a:latin typeface="Google Sans"/>
              </a:rPr>
              <a:t>финансовый отчет</a:t>
            </a:r>
            <a:r>
              <a:rPr lang="ru-RU" dirty="0"/>
              <a:t>, агрегирующий доходы по филиалам и услугам для оценки рентабельности. Все отчеты поддерживают фильтрацию по параметрам. Инструмент исключает ручную работу с таблицами и гарантирует актуальность данных.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82526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821938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07133801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 результате выполнения курсовой работы была выполнена цель – разработано приложение базы данных, предназначенного для автоматизации деятельности службы доставки посылок.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Были выполнены задачи: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проведен анализ предметной области, изучены бизнес-процессы и документооборот, сформулированы требования к системе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определены основные сущности и связи между ними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разработана логическая и физическая структура базы данных</a:t>
            </a:r>
          </a:p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реализовано программное приложение для работы с базой данных</a:t>
            </a:r>
          </a:p>
        </p:txBody>
      </p:sp>
      <p:sp>
        <p:nvSpPr>
          <p:cNvPr id="112783287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503000EB-4D64-1642-136B-253501F84A9C}" type="slidenum">
              <a:rPr lang="ru-RU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18583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31675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0702704" name="Заметки 2"/>
          <p:cNvSpPr>
            <a:spLocks noGrp="1"/>
          </p:cNvSpPr>
          <p:nvPr>
            <p:ph type="body" idx="1"/>
          </p:nvPr>
        </p:nvSpPr>
        <p:spPr bwMode="auto"/>
        <p:txBody>
          <a:bodyPr rtlCol="0"/>
          <a:lstStyle/>
          <a:p>
            <a:pPr algn="l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Доклад окончен. Спасибо за внимание, готов ответить на вопросы.</a:t>
            </a:r>
          </a:p>
        </p:txBody>
      </p:sp>
      <p:sp>
        <p:nvSpPr>
          <p:cNvPr id="132222215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 rtlCol="0"/>
          <a:lstStyle/>
          <a:p>
            <a:pPr>
              <a:defRPr/>
            </a:pPr>
            <a:fld id="{E0FF1D73-5B2F-6E64-3C0D-968666C42B6A}" type="slidenum">
              <a:rPr lang="ru-RU"/>
              <a:t>19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215110-1D85-4C43-8D1D-5966231E2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15AB5EB-BE48-42F0-B83B-11DB28366C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CC46BE-B0E0-4473-8726-857BFA154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83052C-BBC3-4864-8F86-A302E5797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1A619A-D9F8-4848-990F-3F24FDE4C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7870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F25F6A-7C26-448A-8C34-813361F99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004100-FAC9-4285-BD5A-DC6310A75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73BE87-F223-40E7-97C0-61DF96B77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A496EE-9DB3-405A-AAFB-321FCDFBA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76A415-3803-4082-8CCA-2E2ADF9BB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47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894C9A-02B1-4FB9-A172-846FF8762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6259497-7341-45A2-8C5F-FB09F56E6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99F325-0663-4BEF-959B-DAEE9A497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A3169E-3C02-44B4-B628-A9FE830E7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E1260D-323D-4AEA-994D-97CAAD6DC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1136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45E910-D2E1-4EE0-AE64-9864C1F3A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3C8103-64BD-4968-912A-7CA62C8141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5131C6F-EB63-4ACA-8E21-3812F1169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3DCD43-94B0-4F95-93D0-10D249C26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D2287D-FE47-4E7E-90D6-E6498BD0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B1E954-3B4F-4254-9521-BD6B9310E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215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1B661E-FEAA-4766-A128-DB9532945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2EF436-AC17-42CA-BF76-D5F1CB13B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E73F57C-EECB-45E4-B73E-93B7F14D2F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7CE433B-948B-4424-87EE-ECE0BE786E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14A56C9-C90D-41F2-AAC8-37C43BF8A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EAA1D00-2446-483A-9885-0AABDED9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AF6C7C3-A618-4502-AE2D-78F50C5F1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BBAB66E-C7DD-43C1-AF3B-9BB122A82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926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849383-C188-4828-ACC2-85FCBB5F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C992838-38D8-44C1-956A-B7C72A9A9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F6FC9-3040-4D7E-B2D5-C7BFD4100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BB7585D-B14E-46B6-A1C8-0085874A2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208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0CEB7F9-2A7D-4E8D-8C5D-2FFF20A59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D905B7C-F13E-4105-989B-B9D061903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1C798B3-60FC-440A-B33C-E543A642D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8071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61FF56-C53D-4F3F-AA69-04CB721F5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3AE75E-6F9D-4297-B675-25CC9C17D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6BF530-D2D9-4D9F-9DCD-B16C72AD1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C29C17-7726-4C88-AB05-D6D8F5971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64E1EE-7C98-473C-9F4B-67B6DBA2F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99888E0-780E-4385-BE43-475C5EF4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4613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0B6EA-1838-4A98-8900-E76625E25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2CCC9D6-1F37-4B8B-927A-04A5DAD38E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5238A4-CD59-4784-AD2E-422EE1444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2CCEBF-A6E0-41E9-BE46-A869A9476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925496-F1EE-4AF4-ABFE-C7E40F468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3CF2C2-B475-465C-AC06-86F479083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9126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3FC043-F6DF-40A1-916B-40D6F13DE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C1CABA5-3E2B-4D3F-BD4F-D74CFC0B43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30307B2-31C8-458B-AD33-D12872FAA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0AD524-D974-41F5-AFEF-E65CED13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93BCCF-EE65-4697-8717-AA845477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490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F9027C3-BDBF-48A5-AF8A-BF30DFD4B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A017EDB-F18D-4275-B804-8E790BD83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7CA502-1520-45EF-A22A-FF73F2AAC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1CF08C-C7D3-4837-B426-F7BBD6512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55096B-7562-4647-AF34-1508BD472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352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510A00-12F5-4507-AF49-5BEE10C84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D1C7BDC-081C-4166-B892-4714A41FC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38C9E2-42E0-4CBC-9A87-610CB2CAE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50A90C-0F16-4F5F-85DA-11EA3DED68B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F7172E-2504-4BAE-921D-6173B7C584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702DEB-DBB9-4381-8348-D4FB35D0B7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A1704-FB68-4349-BFA9-2811ED6948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9630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4452229" name="Рисунок 1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10800000">
            <a:off x="0" y="-893"/>
            <a:ext cx="12192000" cy="6859787"/>
          </a:xfrm>
          <a:prstGeom prst="rect">
            <a:avLst/>
          </a:prstGeom>
        </p:spPr>
      </p:pic>
      <p:sp>
        <p:nvSpPr>
          <p:cNvPr id="402882271" name="Title 1"/>
          <p:cNvSpPr txBox="1"/>
          <p:nvPr/>
        </p:nvSpPr>
        <p:spPr bwMode="auto">
          <a:xfrm>
            <a:off x="862088" y="1632170"/>
            <a:ext cx="10892233" cy="473975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defRPr/>
            </a:pPr>
            <a:endParaRPr sz="2800" dirty="0">
              <a:solidFill>
                <a:schemeClr val="bg1"/>
              </a:solidFill>
              <a:latin typeface="Montserrat SemiBold"/>
              <a:cs typeface="Montserrat SemiBold"/>
            </a:endParaRPr>
          </a:p>
          <a:p>
            <a:pPr algn="ctr">
              <a:lnSpc>
                <a:spcPct val="100000"/>
              </a:lnSpc>
              <a:defRPr/>
            </a:pPr>
            <a:r>
              <a:rPr lang="ru-RU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  <a:t>Кафедра информационных технологий</a:t>
            </a:r>
            <a:br>
              <a:rPr lang="ru-RU" sz="2400" b="1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br>
              <a:rPr lang="en-US" sz="2400" b="1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r>
              <a:rPr lang="ru-RU" sz="3200" b="1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  <a:t>РАЗРАБОТКА ПРИЛОЖЕНИЯ БАЗЫ ДАННЫХ СЛУЖБЫ ДОСТАВКИ ПОСЫЛОК</a:t>
            </a:r>
            <a:br>
              <a:rPr lang="en-US" sz="2400" b="1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br>
              <a:rPr lang="en-US" sz="2400" b="1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br>
              <a:rPr lang="en-US" sz="2400" b="1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r>
              <a:rPr lang="ru-RU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  <a:t>Выполнил: Котельников Дмитрий Александрович, ИВТб23о-1</a:t>
            </a:r>
            <a:br>
              <a:rPr lang="ru-RU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br>
              <a:rPr lang="ru-RU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r>
              <a:rPr lang="ru-RU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  <a:t>Руководитель: Шиманский С.А., преподаватель кафедры ИТ</a:t>
            </a:r>
            <a:br>
              <a:rPr lang="en-US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br>
              <a:rPr lang="en-US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</a:br>
            <a:r>
              <a:rPr lang="ru-RU" sz="2400" dirty="0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</a:rPr>
              <a:t>Мурманск, 2026</a:t>
            </a:r>
            <a:endParaRPr sz="2400" dirty="0">
              <a:latin typeface="Montserrat SemiBold"/>
              <a:cs typeface="Montserrat SemiBold"/>
            </a:endParaRPr>
          </a:p>
        </p:txBody>
      </p:sp>
      <p:pic>
        <p:nvPicPr>
          <p:cNvPr id="897855764" name="Рисунок 8"/>
          <p:cNvPicPr>
            <a:picLocks noChangeAspect="1"/>
          </p:cNvPicPr>
          <p:nvPr/>
        </p:nvPicPr>
        <p:blipFill>
          <a:blip r:embed="rId4"/>
          <a:srcRect l="7654" t="19556" r="7393" b="22354"/>
          <a:stretch/>
        </p:blipFill>
        <p:spPr bwMode="auto">
          <a:xfrm>
            <a:off x="810424" y="576100"/>
            <a:ext cx="2879249" cy="6224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321957" name="Заголовок 2"/>
          <p:cNvSpPr>
            <a:spLocks noGrp="1"/>
          </p:cNvSpPr>
          <p:nvPr>
            <p:ph type="title"/>
          </p:nvPr>
        </p:nvSpPr>
        <p:spPr bwMode="auto">
          <a:xfrm>
            <a:off x="416293" y="476670"/>
            <a:ext cx="8612250" cy="792086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Актуальность и практическая значимость</a:t>
            </a:r>
            <a:endParaRPr lang="ru" sz="3600" dirty="0">
              <a:latin typeface="Arial"/>
              <a:cs typeface="Arial"/>
            </a:endParaRPr>
          </a:p>
        </p:txBody>
      </p:sp>
      <p:sp>
        <p:nvSpPr>
          <p:cNvPr id="2115589713" name="Объект 1"/>
          <p:cNvSpPr>
            <a:spLocks noGrp="1"/>
          </p:cNvSpPr>
          <p:nvPr>
            <p:ph idx="1"/>
          </p:nvPr>
        </p:nvSpPr>
        <p:spPr bwMode="auto">
          <a:xfrm>
            <a:off x="808608" y="1523131"/>
            <a:ext cx="10202292" cy="4735552"/>
          </a:xfrm>
        </p:spPr>
        <p:txBody>
          <a:bodyPr rtlCol="0" anchor="ctr">
            <a:noAutofit/>
          </a:bodyPr>
          <a:lstStyle/>
          <a:p>
            <a:pPr marL="0" indent="0" algn="just">
              <a:lnSpc>
                <a:spcPct val="100000"/>
              </a:lnSpc>
              <a:buNone/>
              <a:defRPr/>
            </a:pPr>
            <a:r>
              <a:rPr lang="ru-RU" dirty="0">
                <a:latin typeface="Arial"/>
                <a:cs typeface="Arial"/>
              </a:rPr>
              <a:t>Рост электронной коммерции и объёмов онлайн-заказов приводит к увеличению нагрузки на службы доставки. Обработка больших объёмов данных о посылках без автоматизации сопровождается ошибками, задержками и затрудняет оперативный доступ к информации.</a:t>
            </a:r>
          </a:p>
          <a:p>
            <a:pPr marL="0" indent="0" algn="just">
              <a:lnSpc>
                <a:spcPct val="100000"/>
              </a:lnSpc>
              <a:buNone/>
              <a:defRPr/>
            </a:pPr>
            <a:endParaRPr lang="ru-RU" dirty="0">
              <a:latin typeface="Arial"/>
              <a:cs typeface="Arial"/>
            </a:endParaRPr>
          </a:p>
          <a:p>
            <a:pPr marL="0" indent="0" algn="just">
              <a:lnSpc>
                <a:spcPct val="100000"/>
              </a:lnSpc>
              <a:buNone/>
              <a:defRPr/>
            </a:pPr>
            <a:r>
              <a:rPr lang="ru-RU" dirty="0">
                <a:latin typeface="Arial"/>
                <a:cs typeface="Arial"/>
              </a:rPr>
              <a:t>Разработка приложения базы данных позволяет централизованно хранить информацию, упростить обработку данных и повысить эффективность работы службы доставки.</a:t>
            </a:r>
          </a:p>
        </p:txBody>
      </p:sp>
      <p:sp>
        <p:nvSpPr>
          <p:cNvPr id="1504182603" name="Номер слайда 4"/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 smtClean="0">
                <a:latin typeface="Arial"/>
                <a:cs typeface="Arial"/>
              </a:rPr>
              <a:pPr algn="ctr">
                <a:defRPr/>
              </a:pPr>
              <a:t>2</a:t>
            </a:fld>
            <a:endParaRPr lang="ru-RU" sz="2800" dirty="0">
              <a:latin typeface="Arial"/>
              <a:cs typeface="Arial"/>
            </a:endParaRPr>
          </a:p>
        </p:txBody>
      </p:sp>
      <p:pic>
        <p:nvPicPr>
          <p:cNvPr id="1203982673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:fade/>
      </p:transition>
    </mc:Choice>
    <mc:Fallback xmlns:w="http://schemas.openxmlformats.org/wordprocessingml/2006/main" xmlns:m="http://schemas.openxmlformats.org/officeDocument/2006/math" xmlns="">
      <p:transition spd="med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127284" name="Заголовок 2"/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Цель и задачи</a:t>
            </a:r>
            <a:endParaRPr lang="ru" sz="3600" dirty="0">
              <a:latin typeface="Arial"/>
              <a:cs typeface="Arial"/>
            </a:endParaRPr>
          </a:p>
        </p:txBody>
      </p:sp>
      <p:sp>
        <p:nvSpPr>
          <p:cNvPr id="1879832513" name="Объект 1"/>
          <p:cNvSpPr>
            <a:spLocks noGrp="1"/>
          </p:cNvSpPr>
          <p:nvPr>
            <p:ph idx="1"/>
          </p:nvPr>
        </p:nvSpPr>
        <p:spPr bwMode="auto">
          <a:xfrm>
            <a:off x="839417" y="1429750"/>
            <a:ext cx="10657183" cy="4735553"/>
          </a:xfrm>
        </p:spPr>
        <p:txBody>
          <a:bodyPr rtlCol="0" anchor="ctr">
            <a:noAutofit/>
          </a:bodyPr>
          <a:lstStyle/>
          <a:p>
            <a:pPr marL="0" indent="0" algn="just">
              <a:lnSpc>
                <a:spcPct val="100000"/>
              </a:lnSpc>
              <a:buNone/>
              <a:defRPr/>
            </a:pPr>
            <a:r>
              <a:rPr lang="ru-RU" sz="2400" dirty="0">
                <a:latin typeface="Arial"/>
                <a:cs typeface="Arial"/>
              </a:rPr>
              <a:t>Цель курсовой работы – разработка приложения базы данных, предназначенного для автоматизации деятельности службы доставки посылок.</a:t>
            </a:r>
            <a:endParaRPr lang="en-US" sz="2400" dirty="0">
              <a:latin typeface="Arial"/>
              <a:cs typeface="Arial"/>
            </a:endParaRPr>
          </a:p>
          <a:p>
            <a:pPr marL="0" indent="0" algn="just">
              <a:lnSpc>
                <a:spcPct val="100000"/>
              </a:lnSpc>
              <a:buNone/>
              <a:defRPr/>
            </a:pPr>
            <a:endParaRPr lang="ru-RU" sz="2400" dirty="0">
              <a:latin typeface="Arial"/>
              <a:cs typeface="Arial"/>
            </a:endParaRPr>
          </a:p>
          <a:p>
            <a:pPr marL="0" indent="0" algn="just">
              <a:lnSpc>
                <a:spcPct val="100000"/>
              </a:lnSpc>
              <a:buNone/>
              <a:defRPr/>
            </a:pPr>
            <a:r>
              <a:rPr lang="ru-RU" sz="2400" dirty="0">
                <a:latin typeface="Arial"/>
                <a:cs typeface="Arial"/>
              </a:rPr>
              <a:t>Задачи:</a:t>
            </a:r>
          </a:p>
          <a:p>
            <a:pPr algn="just">
              <a:lnSpc>
                <a:spcPct val="100000"/>
              </a:lnSpc>
              <a:defRPr/>
            </a:pPr>
            <a:r>
              <a:rPr lang="ru-RU" sz="2400" dirty="0">
                <a:latin typeface="Arial"/>
                <a:cs typeface="Arial"/>
              </a:rPr>
              <a:t>проанализировать предметную область и выделить основные бизнес-процессы;</a:t>
            </a:r>
          </a:p>
          <a:p>
            <a:pPr algn="just">
              <a:lnSpc>
                <a:spcPct val="100000"/>
              </a:lnSpc>
              <a:defRPr/>
            </a:pPr>
            <a:r>
              <a:rPr lang="ru-RU" sz="2400" dirty="0">
                <a:latin typeface="Arial"/>
                <a:cs typeface="Arial"/>
              </a:rPr>
              <a:t>определить основные сущности и связи между ними для построения модели БД;</a:t>
            </a:r>
          </a:p>
          <a:p>
            <a:pPr algn="just">
              <a:lnSpc>
                <a:spcPct val="100000"/>
              </a:lnSpc>
              <a:defRPr/>
            </a:pPr>
            <a:r>
              <a:rPr lang="ru-RU" sz="2400" dirty="0">
                <a:latin typeface="Arial"/>
                <a:cs typeface="Arial"/>
              </a:rPr>
              <a:t>разработать логическую и физическую структуру базы данных;</a:t>
            </a:r>
          </a:p>
          <a:p>
            <a:pPr algn="just">
              <a:lnSpc>
                <a:spcPct val="100000"/>
              </a:lnSpc>
              <a:defRPr/>
            </a:pPr>
            <a:r>
              <a:rPr lang="ru-RU" sz="2400" dirty="0">
                <a:latin typeface="Arial"/>
                <a:cs typeface="Arial"/>
              </a:rPr>
              <a:t>реализовать программное приложение для работы с базой данных.</a:t>
            </a:r>
          </a:p>
        </p:txBody>
      </p:sp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3</a:t>
            </a:fld>
            <a:endParaRPr lang="ru-RU" sz="2800" dirty="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:fade/>
      </p:transition>
    </mc:Choice>
    <mc:Fallback xmlns:w="http://schemas.openxmlformats.org/wordprocessingml/2006/main" xmlns:m="http://schemas.openxmlformats.org/officeDocument/2006/math" xmlns="">
      <p:transition spd="med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127284" name="Заголовок 2"/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Анализ предметной области</a:t>
            </a:r>
            <a:endParaRPr lang="ru" sz="3600" dirty="0">
              <a:latin typeface="Arial"/>
              <a:cs typeface="Arial"/>
            </a:endParaRPr>
          </a:p>
        </p:txBody>
      </p:sp>
      <p:sp>
        <p:nvSpPr>
          <p:cNvPr id="1879832513" name="Объект 1"/>
          <p:cNvSpPr>
            <a:spLocks noGrp="1"/>
          </p:cNvSpPr>
          <p:nvPr>
            <p:ph idx="1"/>
          </p:nvPr>
        </p:nvSpPr>
        <p:spPr bwMode="auto">
          <a:xfrm>
            <a:off x="839417" y="1429750"/>
            <a:ext cx="10657183" cy="874301"/>
          </a:xfrm>
        </p:spPr>
        <p:txBody>
          <a:bodyPr rtlCol="0" anchor="ctr">
            <a:noAutofit/>
          </a:bodyPr>
          <a:lstStyle/>
          <a:p>
            <a:pPr marL="0" indent="0" algn="just">
              <a:lnSpc>
                <a:spcPct val="100000"/>
              </a:lnSpc>
              <a:buNone/>
              <a:defRPr/>
            </a:pPr>
            <a:r>
              <a:rPr lang="ru-RU" sz="2400" dirty="0">
                <a:latin typeface="Arial"/>
                <a:cs typeface="Arial"/>
              </a:rPr>
              <a:t>Объект: гипотетическая служба доставки посылок «</a:t>
            </a:r>
            <a:r>
              <a:rPr lang="ru-RU" sz="2400" dirty="0" err="1">
                <a:latin typeface="Arial"/>
                <a:cs typeface="Arial"/>
              </a:rPr>
              <a:t>ЭкспрессДоставка</a:t>
            </a:r>
            <a:r>
              <a:rPr lang="ru-RU" sz="2400" dirty="0">
                <a:latin typeface="Arial"/>
                <a:cs typeface="Arial"/>
              </a:rPr>
              <a:t>». Главная деятельность – прием, транспортировка и выдача отправлений.</a:t>
            </a:r>
          </a:p>
        </p:txBody>
      </p:sp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4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32B6F0-B33C-4994-8A8B-3FD0FDDEA06F}"/>
              </a:ext>
            </a:extLst>
          </p:cNvPr>
          <p:cNvSpPr txBox="1"/>
          <p:nvPr/>
        </p:nvSpPr>
        <p:spPr>
          <a:xfrm>
            <a:off x="724492" y="2836309"/>
            <a:ext cx="5371508" cy="2821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Ключевые бизнес-процессы: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регистрация клиентов;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расчет и оформление стоимости;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хранение и выдача отправлений;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управление персоналом и инфраструктурой.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B42D5A-CC59-4023-B582-C4503ABC5A59}"/>
              </a:ext>
            </a:extLst>
          </p:cNvPr>
          <p:cNvSpPr txBox="1"/>
          <p:nvPr/>
        </p:nvSpPr>
        <p:spPr bwMode="auto">
          <a:xfrm>
            <a:off x="6342789" y="2836309"/>
            <a:ext cx="5371508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Основные проблемы без автоматизации:</a:t>
            </a:r>
            <a:endParaRPr lang="ru-RU" sz="24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разрозненное хранение данных о клиентах и посылках;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ошибки ручной обработки;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ограниченные возможности формирования отчетности.</a:t>
            </a:r>
          </a:p>
        </p:txBody>
      </p:sp>
    </p:spTree>
    <p:extLst>
      <p:ext uri="{BB962C8B-B14F-4D97-AF65-F5344CB8AC3E}">
        <p14:creationId xmlns:p14="http://schemas.microsoft.com/office/powerpoint/2010/main" val="1698484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127284" name="Заголовок 2"/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Входная и результатная информация</a:t>
            </a:r>
            <a:endParaRPr lang="ru" sz="3600" dirty="0">
              <a:latin typeface="Arial"/>
              <a:cs typeface="Arial"/>
            </a:endParaRPr>
          </a:p>
        </p:txBody>
      </p:sp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5</a:t>
            </a:fld>
            <a:endParaRPr lang="ru-RU" sz="2800" dirty="0">
              <a:latin typeface="Arial"/>
              <a:cs typeface="Arial"/>
            </a:endParaRP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515ADD2E-80EA-4AFF-920E-F82A62A1C117}"/>
              </a:ext>
            </a:extLst>
          </p:cNvPr>
          <p:cNvGrpSpPr/>
          <p:nvPr/>
        </p:nvGrpSpPr>
        <p:grpSpPr>
          <a:xfrm>
            <a:off x="452332" y="1961356"/>
            <a:ext cx="11287335" cy="3118168"/>
            <a:chOff x="839417" y="1784031"/>
            <a:chExt cx="10346055" cy="2858136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6515E01-6103-483A-8834-1B3358D00CA6}"/>
                </a:ext>
              </a:extLst>
            </p:cNvPr>
            <p:cNvPicPr/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1995"/>
            <a:stretch/>
          </p:blipFill>
          <p:spPr bwMode="auto">
            <a:xfrm>
              <a:off x="839417" y="1784032"/>
              <a:ext cx="3188970" cy="285813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FB991E30-6304-496D-BDD1-CD4AF888998B}"/>
                </a:ext>
              </a:extLst>
            </p:cNvPr>
            <p:cNvPicPr/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524" r="34471"/>
            <a:stretch/>
          </p:blipFill>
          <p:spPr bwMode="auto">
            <a:xfrm>
              <a:off x="4417959" y="1784031"/>
              <a:ext cx="3188970" cy="285813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BB66395D-9D67-4360-80C4-BED1D24B2F35}"/>
                </a:ext>
              </a:extLst>
            </p:cNvPr>
            <p:cNvPicPr/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95"/>
            <a:stretch/>
          </p:blipFill>
          <p:spPr bwMode="auto">
            <a:xfrm>
              <a:off x="7996502" y="1784031"/>
              <a:ext cx="3188970" cy="285813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4C1EA60-A681-4C33-8FDB-2E44BFA53B44}"/>
              </a:ext>
            </a:extLst>
          </p:cNvPr>
          <p:cNvSpPr txBox="1"/>
          <p:nvPr/>
        </p:nvSpPr>
        <p:spPr bwMode="auto">
          <a:xfrm>
            <a:off x="452332" y="5178583"/>
            <a:ext cx="34790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solidFill>
                  <a:prstClr val="black"/>
                </a:solidFill>
                <a:latin typeface="Arial"/>
                <a:cs typeface="Arial"/>
              </a:rPr>
              <a:t>Обслуживание клиентов и тарификация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50523F-676B-4C6C-A409-DF95188771D9}"/>
              </a:ext>
            </a:extLst>
          </p:cNvPr>
          <p:cNvSpPr txBox="1"/>
          <p:nvPr/>
        </p:nvSpPr>
        <p:spPr bwMode="auto">
          <a:xfrm>
            <a:off x="4356450" y="5178583"/>
            <a:ext cx="34790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Оформление отправлений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C9BB4E-7F94-4657-8E90-FF289CE95500}"/>
              </a:ext>
            </a:extLst>
          </p:cNvPr>
          <p:cNvSpPr txBox="1"/>
          <p:nvPr/>
        </p:nvSpPr>
        <p:spPr bwMode="auto">
          <a:xfrm>
            <a:off x="8260566" y="5178583"/>
            <a:ext cx="34790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solidFill>
                  <a:prstClr val="black"/>
                </a:solidFill>
                <a:latin typeface="Arial"/>
                <a:cs typeface="Arial"/>
              </a:rPr>
              <a:t>Логический учет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3153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127284" name="Заголовок 2"/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Концептуальное проектирование</a:t>
            </a:r>
            <a:endParaRPr lang="ru" sz="3600" dirty="0">
              <a:latin typeface="Arial"/>
              <a:cs typeface="Arial"/>
            </a:endParaRPr>
          </a:p>
        </p:txBody>
      </p:sp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6</a:t>
            </a:fld>
            <a:endParaRPr lang="ru-RU" sz="2800" dirty="0">
              <a:latin typeface="Arial"/>
              <a:cs typeface="Arial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59B762E1-6605-4BC0-B841-877BDAACCF68}"/>
              </a:ext>
            </a:extLst>
          </p:cNvPr>
          <p:cNvGrpSpPr/>
          <p:nvPr/>
        </p:nvGrpSpPr>
        <p:grpSpPr>
          <a:xfrm>
            <a:off x="839417" y="1350973"/>
            <a:ext cx="10955300" cy="4907710"/>
            <a:chOff x="839417" y="1268759"/>
            <a:chExt cx="10955300" cy="49077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232B6F0-B33C-4994-8A8B-3FD0FDDEA06F}"/>
                </a:ext>
              </a:extLst>
            </p:cNvPr>
            <p:cNvSpPr txBox="1"/>
            <p:nvPr/>
          </p:nvSpPr>
          <p:spPr>
            <a:xfrm>
              <a:off x="839417" y="1268759"/>
              <a:ext cx="109553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lang="ru-RU" sz="2400" dirty="0">
                  <a:solidFill>
                    <a:prstClr val="black"/>
                  </a:solidFill>
                  <a:latin typeface="Arial"/>
                  <a:cs typeface="Arial"/>
                </a:rPr>
                <a:t>На этапе определения сущностей были выделены 10 типов сущностей:</a:t>
              </a:r>
            </a:p>
          </p:txBody>
        </p: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6B043E3-E0B6-45C8-91B9-E5F1DEF57426}"/>
                </a:ext>
              </a:extLst>
            </p:cNvPr>
            <p:cNvGrpSpPr/>
            <p:nvPr/>
          </p:nvGrpSpPr>
          <p:grpSpPr>
            <a:xfrm>
              <a:off x="839417" y="2142645"/>
              <a:ext cx="3291908" cy="4033824"/>
              <a:chOff x="-612365" y="2142645"/>
              <a:chExt cx="3291908" cy="403382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838F5B-FF7D-463D-B9BB-44538CE36648}"/>
                  </a:ext>
                </a:extLst>
              </p:cNvPr>
              <p:cNvSpPr txBox="1"/>
              <p:nvPr/>
            </p:nvSpPr>
            <p:spPr>
              <a:xfrm>
                <a:off x="-612365" y="2142645"/>
                <a:ext cx="3291908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lang="ru-RU" sz="2400" b="1" dirty="0">
                    <a:solidFill>
                      <a:prstClr val="black"/>
                    </a:solidFill>
                    <a:latin typeface="Arial"/>
                    <a:cs typeface="Arial"/>
                  </a:rPr>
                  <a:t>Сильные сущности: </a:t>
                </a:r>
                <a:r>
                  <a:rPr lang="ru-RU" sz="2400" dirty="0">
                    <a:solidFill>
                      <a:prstClr val="black"/>
                    </a:solidFill>
                    <a:latin typeface="Arial"/>
                    <a:cs typeface="Arial"/>
                  </a:rPr>
                  <a:t>Клиент, Сотрудник, Отправление, Пункт приема и выдачи, Тариф, Акт приема передачи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33EB2C-52C9-48FE-9C47-6587984F8D27}"/>
                  </a:ext>
                </a:extLst>
              </p:cNvPr>
              <p:cNvSpPr txBox="1"/>
              <p:nvPr/>
            </p:nvSpPr>
            <p:spPr>
              <a:xfrm>
                <a:off x="-612365" y="4606809"/>
                <a:ext cx="3291908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lang="ru-RU" sz="2400" b="1" dirty="0">
                    <a:solidFill>
                      <a:prstClr val="black"/>
                    </a:solidFill>
                    <a:latin typeface="Arial"/>
                    <a:cs typeface="Arial"/>
                  </a:rPr>
                  <a:t>Слабые сущности: </a:t>
                </a:r>
                <a:r>
                  <a:rPr lang="ru-RU" sz="2400" dirty="0">
                    <a:solidFill>
                      <a:prstClr val="black"/>
                    </a:solidFill>
                    <a:latin typeface="Arial"/>
                    <a:cs typeface="Arial"/>
                  </a:rPr>
                  <a:t>Накладная, Квитанция, Бланк отправления</a:t>
                </a:r>
              </a:p>
            </p:txBody>
          </p:sp>
        </p:grpSp>
      </p:grpSp>
      <p:graphicFrame>
        <p:nvGraphicFramePr>
          <p:cNvPr id="20" name="Таблица 16">
            <a:extLst>
              <a:ext uri="{FF2B5EF4-FFF2-40B4-BE49-F238E27FC236}">
                <a16:creationId xmlns:a16="http://schemas.microsoft.com/office/drawing/2014/main" id="{992FFEB4-79B1-4CB2-AF01-65CB651FE5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822249"/>
              </p:ext>
            </p:extLst>
          </p:nvPr>
        </p:nvGraphicFramePr>
        <p:xfrm>
          <a:off x="4489373" y="1894852"/>
          <a:ext cx="6633378" cy="4685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563">
                  <a:extLst>
                    <a:ext uri="{9D8B030D-6E8A-4147-A177-3AD203B41FA5}">
                      <a16:colId xmlns:a16="http://schemas.microsoft.com/office/drawing/2014/main" val="3491013827"/>
                    </a:ext>
                  </a:extLst>
                </a:gridCol>
                <a:gridCol w="1105563">
                  <a:extLst>
                    <a:ext uri="{9D8B030D-6E8A-4147-A177-3AD203B41FA5}">
                      <a16:colId xmlns:a16="http://schemas.microsoft.com/office/drawing/2014/main" val="3865028079"/>
                    </a:ext>
                  </a:extLst>
                </a:gridCol>
                <a:gridCol w="967241">
                  <a:extLst>
                    <a:ext uri="{9D8B030D-6E8A-4147-A177-3AD203B41FA5}">
                      <a16:colId xmlns:a16="http://schemas.microsoft.com/office/drawing/2014/main" val="2132798578"/>
                    </a:ext>
                  </a:extLst>
                </a:gridCol>
                <a:gridCol w="1243885">
                  <a:extLst>
                    <a:ext uri="{9D8B030D-6E8A-4147-A177-3AD203B41FA5}">
                      <a16:colId xmlns:a16="http://schemas.microsoft.com/office/drawing/2014/main" val="1276063184"/>
                    </a:ext>
                  </a:extLst>
                </a:gridCol>
                <a:gridCol w="1105563">
                  <a:extLst>
                    <a:ext uri="{9D8B030D-6E8A-4147-A177-3AD203B41FA5}">
                      <a16:colId xmlns:a16="http://schemas.microsoft.com/office/drawing/2014/main" val="2000379518"/>
                    </a:ext>
                  </a:extLst>
                </a:gridCol>
                <a:gridCol w="1105563">
                  <a:extLst>
                    <a:ext uri="{9D8B030D-6E8A-4147-A177-3AD203B41FA5}">
                      <a16:colId xmlns:a16="http://schemas.microsoft.com/office/drawing/2014/main" val="991736555"/>
                    </a:ext>
                  </a:extLst>
                </a:gridCol>
              </a:tblGrid>
              <a:tr h="335098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Сущность 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Имя связи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Сущность </a:t>
                      </a:r>
                      <a:r>
                        <a:rPr lang="en-US" sz="1000" b="1" dirty="0"/>
                        <a:t>B</a:t>
                      </a:r>
                      <a:endParaRPr lang="ru-RU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Ассоциативность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Степень участия 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Степень участия </a:t>
                      </a:r>
                      <a:r>
                        <a:rPr lang="en-US" sz="1000" b="1" dirty="0"/>
                        <a:t>B</a:t>
                      </a:r>
                      <a:endParaRPr lang="ru-RU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3507353"/>
                  </a:ext>
                </a:extLst>
              </a:tr>
              <a:tr h="295940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Клиент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отправляет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835256"/>
                  </a:ext>
                </a:extLst>
              </a:tr>
              <a:tr h="295940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Клиент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получает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3834793"/>
                  </a:ext>
                </a:extLst>
              </a:tr>
              <a:tr h="295940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Сотрудник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оформляет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612767"/>
                  </a:ext>
                </a:extLst>
              </a:tr>
              <a:tr h="409763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Пункт приема и выдачи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принимает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132299"/>
                  </a:ext>
                </a:extLst>
              </a:tr>
              <a:tr h="4097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1" dirty="0"/>
                        <a:t>Пункт приема и выдачи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выдает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9058959"/>
                  </a:ext>
                </a:extLst>
              </a:tr>
              <a:tr h="295940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оформляется по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Накладная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1510327"/>
                  </a:ext>
                </a:extLst>
              </a:tr>
              <a:tr h="463982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подтверждается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Квитанция о приема отправления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1" dirty="0"/>
                        <a:t>1:1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2848841"/>
                  </a:ext>
                </a:extLst>
              </a:tr>
              <a:tr h="409763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сопровождается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Почтовый бланк отправления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965142"/>
                  </a:ext>
                </a:extLst>
              </a:tr>
              <a:tr h="295940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детализируется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Опись вложения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000" b="1" dirty="0"/>
                        <a:t>1:1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3834393"/>
                  </a:ext>
                </a:extLst>
              </a:tr>
              <a:tr h="335098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Акт приема-передачи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содержит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045546"/>
                  </a:ext>
                </a:extLst>
              </a:tr>
              <a:tr h="335098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Тариф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определяет стоимость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Отправление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1:М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(0, 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/>
                        <a:t>(1, 1)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73558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0624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C59E3DB-1381-42BE-92E4-0A63A9920A9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42774" y="1350974"/>
            <a:ext cx="7106452" cy="5207708"/>
          </a:xfrm>
          <a:prstGeom prst="rect">
            <a:avLst/>
          </a:prstGeom>
          <a:noFill/>
          <a:ln>
            <a:noFill/>
          </a:ln>
        </p:spPr>
      </p:pic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7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en-US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ER-</a:t>
            </a: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диаграмма в нотации Чена</a:t>
            </a:r>
            <a:endParaRPr lang="ru" sz="36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7897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127284" name="Заголовок 2"/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Логическое проектирование</a:t>
            </a:r>
            <a:endParaRPr lang="ru" sz="3600" dirty="0">
              <a:latin typeface="Arial"/>
              <a:cs typeface="Arial"/>
            </a:endParaRPr>
          </a:p>
        </p:txBody>
      </p:sp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8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32B6F0-B33C-4994-8A8B-3FD0FDDEA06F}"/>
              </a:ext>
            </a:extLst>
          </p:cNvPr>
          <p:cNvSpPr txBox="1"/>
          <p:nvPr/>
        </p:nvSpPr>
        <p:spPr>
          <a:xfrm>
            <a:off x="839417" y="1350973"/>
            <a:ext cx="10955300" cy="4914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Исключены сущности: Накладная, Почтовый бланк отправления, Опись вложения.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sz="28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Появились сущности: Должность, Услуга, Услуги пункта, Особый график работы, Состав акта, Опись отправления,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sz="28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Составные атрибуты (ФИО, адрес, габариты) приведены к атомарному виду. ФИО и должности сотрудников в документах заменены на внешний ключ «Табельный номер». ФИО клиентов в документах заменены на внешний ключ «Номер паспорта».</a:t>
            </a:r>
          </a:p>
        </p:txBody>
      </p:sp>
    </p:spTree>
    <p:extLst>
      <p:ext uri="{BB962C8B-B14F-4D97-AF65-F5344CB8AC3E}">
        <p14:creationId xmlns:p14="http://schemas.microsoft.com/office/powerpoint/2010/main" val="566846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C59E3DB-1381-42BE-92E4-0A63A9920A9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09371" y="1165559"/>
            <a:ext cx="7128192" cy="5393123"/>
          </a:xfrm>
          <a:prstGeom prst="rect">
            <a:avLst/>
          </a:prstGeom>
          <a:noFill/>
          <a:ln>
            <a:noFill/>
          </a:ln>
        </p:spPr>
      </p:pic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9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Логическое проектирование</a:t>
            </a:r>
            <a:endParaRPr lang="ru" sz="36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280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127284" name="Заголовок 2"/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Физическое проектирование</a:t>
            </a:r>
            <a:endParaRPr lang="ru" sz="3600" dirty="0">
              <a:latin typeface="Arial"/>
              <a:cs typeface="Arial"/>
            </a:endParaRPr>
          </a:p>
        </p:txBody>
      </p:sp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10</a:t>
            </a:fld>
            <a:endParaRPr lang="ru-RU" sz="2800" dirty="0">
              <a:latin typeface="Arial"/>
              <a:cs typeface="Arial"/>
            </a:endParaRP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9391455C-6A0B-4282-AEE3-1DB42184D4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73"/>
          <a:stretch/>
        </p:blipFill>
        <p:spPr bwMode="auto">
          <a:xfrm>
            <a:off x="1021694" y="3377200"/>
            <a:ext cx="1773106" cy="1730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918E2E5F-37AD-46E7-A6E8-50A6C04CA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8247" y="1630088"/>
            <a:ext cx="1881553" cy="2664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47F9499-B46E-46C1-8C91-A4EE57E4E369}"/>
              </a:ext>
            </a:extLst>
          </p:cNvPr>
          <p:cNvSpPr txBox="1"/>
          <p:nvPr/>
        </p:nvSpPr>
        <p:spPr bwMode="auto">
          <a:xfrm>
            <a:off x="4099034" y="2026052"/>
            <a:ext cx="7535919" cy="2805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Физическая модель базы данных реализована на основе логической модели в среде СУБД MySQL.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Развёртывание выполнено с использованием инструментального средства MySQL </a:t>
            </a:r>
            <a:r>
              <a:rPr lang="ru-RU" sz="2800" dirty="0" err="1">
                <a:solidFill>
                  <a:prstClr val="black"/>
                </a:solidFill>
                <a:latin typeface="Arial"/>
                <a:cs typeface="Arial"/>
              </a:rPr>
              <a:t>Workbench</a:t>
            </a: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4035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C59E3DB-1381-42BE-92E4-0A63A9920A9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96900" y="1148126"/>
            <a:ext cx="10998200" cy="55269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11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Физическая схема</a:t>
            </a:r>
            <a:endParaRPr lang="ru" sz="36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6824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12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Поддержка ограничений целостности</a:t>
            </a:r>
            <a:endParaRPr lang="ru" sz="3600" dirty="0">
              <a:latin typeface="Arial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23791F-D81F-4B3D-A0AF-BC43ED42ED42}"/>
              </a:ext>
            </a:extLst>
          </p:cNvPr>
          <p:cNvSpPr txBox="1"/>
          <p:nvPr/>
        </p:nvSpPr>
        <p:spPr bwMode="auto">
          <a:xfrm>
            <a:off x="477516" y="1641569"/>
            <a:ext cx="11236969" cy="47397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Обеспечение ограничений целостности обеспечено при помощи следующих средств: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sz="28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/>
                <a:cs typeface="Arial"/>
              </a:rPr>
              <a:t>PRIMARY KEY – </a:t>
            </a: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целостность сущностей;</a:t>
            </a:r>
            <a:endParaRPr lang="en-US" sz="28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/>
                <a:cs typeface="Arial"/>
              </a:rPr>
              <a:t>NOT NULL</a:t>
            </a: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 – обязательность заполнения атрибутов;</a:t>
            </a:r>
            <a:endParaRPr lang="en-US" sz="28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/>
                <a:cs typeface="Arial"/>
              </a:rPr>
              <a:t>UNIQUE KEY</a:t>
            </a: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 – исключение дублирования уникальных данных;</a:t>
            </a:r>
            <a:br>
              <a:rPr lang="en-US" sz="2800" dirty="0">
                <a:solidFill>
                  <a:prstClr val="black"/>
                </a:solidFill>
                <a:latin typeface="Arial"/>
                <a:cs typeface="Arial"/>
              </a:rPr>
            </a:br>
            <a:r>
              <a:rPr lang="en-US" sz="2800" dirty="0">
                <a:solidFill>
                  <a:prstClr val="black"/>
                </a:solidFill>
                <a:latin typeface="Arial"/>
                <a:cs typeface="Arial"/>
              </a:rPr>
              <a:t>FOREIGN KEY</a:t>
            </a: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 – обеспечение ссылочной целостности;</a:t>
            </a:r>
            <a:endParaRPr lang="en-US" sz="28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/>
                <a:cs typeface="Arial"/>
              </a:rPr>
              <a:t>CHECK</a:t>
            </a: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 – контроль диапазона и форматов данных;</a:t>
            </a:r>
            <a:endParaRPr lang="en-US" sz="28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/>
                <a:cs typeface="Arial"/>
              </a:rPr>
              <a:t>DEFAULT</a:t>
            </a:r>
            <a:r>
              <a:rPr lang="ru-RU" sz="2800" dirty="0">
                <a:solidFill>
                  <a:prstClr val="black"/>
                </a:solidFill>
                <a:latin typeface="Arial"/>
                <a:cs typeface="Arial"/>
              </a:rPr>
              <a:t> – значения по умолчанию.</a:t>
            </a:r>
          </a:p>
        </p:txBody>
      </p:sp>
    </p:spTree>
    <p:extLst>
      <p:ext uri="{BB962C8B-B14F-4D97-AF65-F5344CB8AC3E}">
        <p14:creationId xmlns:p14="http://schemas.microsoft.com/office/powerpoint/2010/main" val="471881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13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Поддержка ограничений целостности</a:t>
            </a:r>
            <a:endParaRPr lang="ru" sz="3600" dirty="0">
              <a:highlight>
                <a:srgbClr val="FFFF00"/>
              </a:highlight>
              <a:latin typeface="Arial"/>
              <a:cs typeface="Arial"/>
            </a:endParaRP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4D12DFD9-B5FB-4B09-B771-FDD4F9730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47305"/>
              </p:ext>
            </p:extLst>
          </p:nvPr>
        </p:nvGraphicFramePr>
        <p:xfrm>
          <a:off x="2032000" y="1548585"/>
          <a:ext cx="8127999" cy="496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09914450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7921645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660917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Триггер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Назначение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Ключевое правило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4938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/>
                        <a:t>Контроль статусов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Защита жизненного цикла заказа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Реализует конечный автомат. Прямой переход из «Принято» в «Готово к выдаче» невозможен. Изменение закрытых заказов запрещено.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080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/>
                        <a:t>Защита от удаления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Сохранность незавершенных данных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Блокируется удаление отправлений, кроме отправлений со статусами «Выдана» и «Утилизирована»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095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/>
                        <a:t>Ссылочная очистка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Предотвращение остаточных данных (квитанций о выдаче, описей)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При штатном удалении архива автоматически удаляются связанные квитанции и описи.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718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8020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14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Поиск и обработка данных на сервере</a:t>
            </a:r>
            <a:endParaRPr lang="ru" sz="3600" dirty="0">
              <a:latin typeface="Arial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2E5B8-11D5-4A26-97DC-AAE3C4EE45BC}"/>
              </a:ext>
            </a:extLst>
          </p:cNvPr>
          <p:cNvSpPr txBox="1"/>
          <p:nvPr/>
        </p:nvSpPr>
        <p:spPr bwMode="auto">
          <a:xfrm>
            <a:off x="839417" y="1281726"/>
            <a:ext cx="10641383" cy="54373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400" b="1" dirty="0">
                <a:solidFill>
                  <a:prstClr val="black"/>
                </a:solidFill>
                <a:latin typeface="Arial"/>
                <a:cs typeface="Arial"/>
              </a:rPr>
              <a:t>Представления: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список сотрудников с должностями и местом работы;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полная информация об отправлениях;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статистика по пунктам выдачи;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поиск активных отправителей;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просмотр невостребованных отправлений.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sz="24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400" b="1" dirty="0">
                <a:solidFill>
                  <a:prstClr val="black"/>
                </a:solidFill>
                <a:latin typeface="Arial"/>
                <a:cs typeface="Arial"/>
              </a:rPr>
              <a:t>Хранимые процедуры и функции: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расчет стоимости доставки;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приемка посылок по акту;</a:t>
            </a: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400" dirty="0">
                <a:solidFill>
                  <a:prstClr val="black"/>
                </a:solidFill>
                <a:latin typeface="Arial"/>
                <a:cs typeface="Arial"/>
              </a:rPr>
              <a:t>утилизация просроченных невостребованных посылок.</a:t>
            </a:r>
          </a:p>
        </p:txBody>
      </p:sp>
    </p:spTree>
    <p:extLst>
      <p:ext uri="{BB962C8B-B14F-4D97-AF65-F5344CB8AC3E}">
        <p14:creationId xmlns:p14="http://schemas.microsoft.com/office/powerpoint/2010/main" val="4216468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15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Распределение прав доступа</a:t>
            </a:r>
            <a:endParaRPr lang="ru" sz="3600" dirty="0">
              <a:latin typeface="Arial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02CB8A-28BA-4AA3-83B0-C43562EB3013}"/>
              </a:ext>
            </a:extLst>
          </p:cNvPr>
          <p:cNvSpPr txBox="1"/>
          <p:nvPr/>
        </p:nvSpPr>
        <p:spPr bwMode="auto">
          <a:xfrm>
            <a:off x="737817" y="1112450"/>
            <a:ext cx="10844584" cy="57759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700" dirty="0">
                <a:solidFill>
                  <a:prstClr val="black"/>
                </a:solidFill>
                <a:latin typeface="Arial"/>
                <a:cs typeface="Arial"/>
              </a:rPr>
              <a:t>Реализовано при помощи операторов </a:t>
            </a:r>
            <a:r>
              <a:rPr lang="en-US" sz="2700" dirty="0">
                <a:solidFill>
                  <a:prstClr val="black"/>
                </a:solidFill>
                <a:latin typeface="Arial"/>
                <a:cs typeface="Arial"/>
              </a:rPr>
              <a:t>CREATE USER </a:t>
            </a:r>
            <a:r>
              <a:rPr lang="ru-RU" sz="2700" dirty="0">
                <a:solidFill>
                  <a:prstClr val="black"/>
                </a:solidFill>
                <a:latin typeface="Arial"/>
                <a:cs typeface="Arial"/>
              </a:rPr>
              <a:t>и </a:t>
            </a:r>
            <a:r>
              <a:rPr lang="en-US" sz="2700" dirty="0">
                <a:solidFill>
                  <a:prstClr val="black"/>
                </a:solidFill>
                <a:latin typeface="Arial"/>
                <a:cs typeface="Arial"/>
              </a:rPr>
              <a:t>GRANT.</a:t>
            </a:r>
            <a:endParaRPr lang="ru-RU" sz="2700" dirty="0">
              <a:solidFill>
                <a:prstClr val="black"/>
              </a:solidFill>
              <a:latin typeface="Arial"/>
              <a:cs typeface="Arial"/>
            </a:endParaRP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700" b="1" dirty="0">
                <a:solidFill>
                  <a:prstClr val="black"/>
                </a:solidFill>
                <a:latin typeface="Arial"/>
                <a:cs typeface="Arial"/>
              </a:rPr>
              <a:t>Системный администратор</a:t>
            </a:r>
            <a:r>
              <a:rPr lang="ru-RU" sz="2700" dirty="0">
                <a:solidFill>
                  <a:prstClr val="black"/>
                </a:solidFill>
                <a:latin typeface="Arial"/>
                <a:cs typeface="Arial"/>
              </a:rPr>
              <a:t>: полный доступ к базе данных. Отвечает за администрирование структуры, управление тарифами, справочниками;</a:t>
            </a: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700" b="1" dirty="0">
                <a:solidFill>
                  <a:prstClr val="black"/>
                </a:solidFill>
                <a:latin typeface="Arial"/>
                <a:cs typeface="Arial"/>
              </a:rPr>
              <a:t>Администратор пункта выдачи</a:t>
            </a:r>
            <a:r>
              <a:rPr lang="ru-RU" sz="2700" dirty="0">
                <a:solidFill>
                  <a:prstClr val="black"/>
                </a:solidFill>
                <a:latin typeface="Arial"/>
                <a:cs typeface="Arial"/>
              </a:rPr>
              <a:t>: просмотр всех сведений, внесение изменений в списках сотрудников, отправлений, квитанций и актов.</a:t>
            </a: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700" b="1" dirty="0">
                <a:solidFill>
                  <a:prstClr val="black"/>
                </a:solidFill>
                <a:latin typeface="Arial"/>
                <a:cs typeface="Arial"/>
              </a:rPr>
              <a:t>Оператор</a:t>
            </a:r>
            <a:r>
              <a:rPr lang="ru-RU" sz="2700" dirty="0">
                <a:solidFill>
                  <a:prstClr val="black"/>
                </a:solidFill>
                <a:latin typeface="Arial"/>
                <a:cs typeface="Arial"/>
              </a:rPr>
              <a:t>: регистрация клиентов, оформление отправлений, квитанций, описей и актов.</a:t>
            </a:r>
          </a:p>
          <a:p>
            <a:pPr marL="457200" marR="0" lvl="0" indent="-457200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700" b="1" dirty="0">
                <a:solidFill>
                  <a:prstClr val="black"/>
                </a:solidFill>
                <a:latin typeface="Arial"/>
                <a:cs typeface="Arial"/>
              </a:rPr>
              <a:t>Курьер</a:t>
            </a:r>
            <a:r>
              <a:rPr lang="ru-RU" sz="2700" dirty="0">
                <a:solidFill>
                  <a:prstClr val="black"/>
                </a:solidFill>
                <a:latin typeface="Arial"/>
                <a:cs typeface="Arial"/>
              </a:rPr>
              <a:t>: Просмотр данных об отправлениях. Изменение статуса отправлений только в рамках своей зоны ответственности.</a:t>
            </a:r>
          </a:p>
        </p:txBody>
      </p:sp>
    </p:spTree>
    <p:extLst>
      <p:ext uri="{BB962C8B-B14F-4D97-AF65-F5344CB8AC3E}">
        <p14:creationId xmlns:p14="http://schemas.microsoft.com/office/powerpoint/2010/main" val="742238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16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64304" y="476672"/>
            <a:ext cx="8594212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Разработка клиентского приложения</a:t>
            </a:r>
            <a:endParaRPr lang="ru" sz="3600" dirty="0">
              <a:latin typeface="Arial"/>
              <a:cs typeface="Arial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81D7BA0-ED94-4FB0-81DC-BC2B56AE08C8}"/>
              </a:ext>
            </a:extLst>
          </p:cNvPr>
          <p:cNvGrpSpPr/>
          <p:nvPr/>
        </p:nvGrpSpPr>
        <p:grpSpPr>
          <a:xfrm>
            <a:off x="1097626" y="1503538"/>
            <a:ext cx="9996748" cy="4166227"/>
            <a:chOff x="839417" y="1503538"/>
            <a:chExt cx="9996748" cy="4166227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D8625641-68A7-440F-9F61-2017A88A7661}"/>
                </a:ext>
              </a:extLst>
            </p:cNvPr>
            <p:cNvPicPr/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91" t="11819" r="3441" b="4742"/>
            <a:stretch/>
          </p:blipFill>
          <p:spPr bwMode="auto">
            <a:xfrm>
              <a:off x="839417" y="1721067"/>
              <a:ext cx="3922313" cy="373117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51FAD2C4-B241-492A-AAD1-009A2072D5A3}"/>
                </a:ext>
              </a:extLst>
            </p:cNvPr>
            <p:cNvPicPr/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93" t="6128" r="37263" b="3599"/>
            <a:stretch/>
          </p:blipFill>
          <p:spPr bwMode="auto">
            <a:xfrm>
              <a:off x="5494955" y="1503538"/>
              <a:ext cx="5341210" cy="4166227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14111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17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49790" y="476672"/>
            <a:ext cx="8623240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Разработка клиентского приложения</a:t>
            </a:r>
            <a:endParaRPr lang="ru" sz="3600" dirty="0">
              <a:latin typeface="Arial"/>
              <a:cs typeface="Arial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825D7DB1-485D-454F-87C9-6286FFAF416E}"/>
              </a:ext>
            </a:extLst>
          </p:cNvPr>
          <p:cNvGrpSpPr/>
          <p:nvPr/>
        </p:nvGrpSpPr>
        <p:grpSpPr>
          <a:xfrm>
            <a:off x="2068816" y="1215476"/>
            <a:ext cx="8054369" cy="5043207"/>
            <a:chOff x="1724145" y="1215476"/>
            <a:chExt cx="8054369" cy="5043207"/>
          </a:xfrm>
        </p:grpSpPr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596FCCA9-D3FA-4DC8-964E-CBF644952C7D}"/>
                </a:ext>
              </a:extLst>
            </p:cNvPr>
            <p:cNvPicPr/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1724145" y="1215476"/>
              <a:ext cx="3535123" cy="50432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</p:pic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8F8F0375-F2F2-4F20-989C-EF8CAB0AF4EA}"/>
                </a:ext>
              </a:extLst>
            </p:cNvPr>
            <p:cNvPicPr/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-2516"/>
            <a:stretch/>
          </p:blipFill>
          <p:spPr bwMode="auto">
            <a:xfrm>
              <a:off x="6243391" y="1611130"/>
              <a:ext cx="3535123" cy="398089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7170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640005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  <p:sp>
        <p:nvSpPr>
          <p:cNvPr id="6" name="Номер слайда 4">
            <a:extLst>
              <a:ext uri="{FF2B5EF4-FFF2-40B4-BE49-F238E27FC236}">
                <a16:creationId xmlns:a16="http://schemas.microsoft.com/office/drawing/2014/main" id="{D422C267-2F97-4839-A786-2744EB16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11480800" y="6258683"/>
            <a:ext cx="711200" cy="599317"/>
          </a:xfrm>
        </p:spPr>
        <p:txBody>
          <a:bodyPr/>
          <a:lstStyle/>
          <a:p>
            <a:pPr algn="ctr">
              <a:defRPr/>
            </a:pPr>
            <a:fld id="{F472062A-0340-1288-16BF-FABB66B09199}" type="slidenum">
              <a:rPr lang="ru-RU" sz="2800">
                <a:latin typeface="Arial"/>
                <a:cs typeface="Arial"/>
              </a:rPr>
              <a:pPr algn="ctr">
                <a:defRPr/>
              </a:pPr>
              <a:t>18</a:t>
            </a:fld>
            <a:endParaRPr lang="ru-RU" sz="2800" dirty="0">
              <a:latin typeface="Arial"/>
              <a:cs typeface="Arial"/>
            </a:endParaRPr>
          </a:p>
        </p:txBody>
      </p:sp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F21EBCA5-58A4-4D91-8B93-7EE43CB897C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9417" y="476672"/>
            <a:ext cx="8189126" cy="792087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600" b="1" dirty="0">
                <a:solidFill>
                  <a:srgbClr val="0064BE"/>
                </a:solidFill>
                <a:latin typeface="Arial"/>
                <a:ea typeface="Arial"/>
                <a:cs typeface="Arial"/>
              </a:rPr>
              <a:t>Заключение</a:t>
            </a:r>
            <a:endParaRPr lang="ru" sz="3600" dirty="0">
              <a:latin typeface="Arial"/>
              <a:cs typeface="Arial"/>
            </a:endParaRPr>
          </a:p>
        </p:txBody>
      </p:sp>
      <p:sp>
        <p:nvSpPr>
          <p:cNvPr id="7" name="Объект 1">
            <a:extLst>
              <a:ext uri="{FF2B5EF4-FFF2-40B4-BE49-F238E27FC236}">
                <a16:creationId xmlns:a16="http://schemas.microsoft.com/office/drawing/2014/main" id="{A3F941DD-80E5-4069-BA97-0B26DD771506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839417" y="1429750"/>
            <a:ext cx="10657183" cy="4356195"/>
          </a:xfrm>
        </p:spPr>
        <p:txBody>
          <a:bodyPr rtlCol="0" anchor="ctr">
            <a:noAutofit/>
          </a:bodyPr>
          <a:lstStyle/>
          <a:p>
            <a:pPr marL="0" indent="0" algn="just">
              <a:lnSpc>
                <a:spcPct val="100000"/>
              </a:lnSpc>
              <a:buNone/>
              <a:defRPr/>
            </a:pPr>
            <a:r>
              <a:rPr lang="ru-RU" sz="2500" dirty="0">
                <a:latin typeface="Arial"/>
                <a:cs typeface="Arial"/>
              </a:rPr>
              <a:t>В ходе выполнения курсовой работы были спроектированы и реализованы база данных и клиентское приложение, которые закрывают потребности службы доставки «</a:t>
            </a:r>
            <a:r>
              <a:rPr lang="ru-RU" sz="2500" dirty="0" err="1">
                <a:latin typeface="Arial"/>
                <a:cs typeface="Arial"/>
              </a:rPr>
              <a:t>ЭкспрессДоставка</a:t>
            </a:r>
            <a:r>
              <a:rPr lang="ru-RU" sz="2500" dirty="0">
                <a:latin typeface="Arial"/>
                <a:cs typeface="Arial"/>
              </a:rPr>
              <a:t>» в автоматизации ключевых бизнес-процессов.</a:t>
            </a:r>
          </a:p>
          <a:p>
            <a:pPr marL="0" indent="0" algn="just">
              <a:lnSpc>
                <a:spcPct val="100000"/>
              </a:lnSpc>
              <a:buNone/>
              <a:defRPr/>
            </a:pPr>
            <a:endParaRPr lang="ru-RU" sz="2500" dirty="0">
              <a:latin typeface="Arial"/>
              <a:cs typeface="Arial"/>
            </a:endParaRPr>
          </a:p>
          <a:p>
            <a:pPr marL="0" indent="0" algn="just">
              <a:lnSpc>
                <a:spcPct val="100000"/>
              </a:lnSpc>
              <a:buNone/>
              <a:defRPr/>
            </a:pPr>
            <a:r>
              <a:rPr lang="ru-RU" sz="2500" dirty="0">
                <a:latin typeface="Arial"/>
                <a:cs typeface="Arial"/>
              </a:rPr>
              <a:t>Разработанная БД устраняет критические проблемы ручного документооборота: исключает дублирование и искажение данных, ускоряет поиск и обработку отправлений, обеспечивает контроль жизненного цикла посылок и автоматизирует формирование квитанций, актов приема-передачи и финансовой отчетности.</a:t>
            </a:r>
          </a:p>
        </p:txBody>
      </p:sp>
    </p:spTree>
    <p:extLst>
      <p:ext uri="{BB962C8B-B14F-4D97-AF65-F5344CB8AC3E}">
        <p14:creationId xmlns:p14="http://schemas.microsoft.com/office/powerpoint/2010/main" val="3781170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475995" name="Заголовок 2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0" cy="6858000"/>
          </a:xfrm>
        </p:spPr>
        <p:txBody>
          <a:bodyPr rtlCol="0">
            <a:noAutofit/>
          </a:bodyPr>
          <a:lstStyle/>
          <a:p>
            <a:pPr algn="ctr">
              <a:spcBef>
                <a:spcPts val="0"/>
              </a:spcBef>
              <a:defRPr/>
            </a:pPr>
            <a:r>
              <a:rPr lang="ru-RU" sz="3800" b="1">
                <a:solidFill>
                  <a:srgbClr val="0064BE"/>
                </a:solidFill>
                <a:latin typeface="Arial"/>
                <a:ea typeface="Arial"/>
                <a:cs typeface="Arial"/>
              </a:rPr>
              <a:t>Спасибо за внимание!</a:t>
            </a:r>
            <a:endParaRPr lang="ru" sz="3600">
              <a:latin typeface="Arial"/>
              <a:cs typeface="Arial"/>
            </a:endParaRPr>
          </a:p>
        </p:txBody>
      </p:sp>
      <p:pic>
        <p:nvPicPr>
          <p:cNvPr id="781893374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028543" y="341175"/>
            <a:ext cx="2766174" cy="8743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:fade/>
      </p:transition>
    </mc:Choice>
    <mc:Fallback xmlns:w="http://schemas.openxmlformats.org/wordprocessingml/2006/main" xmlns:m="http://schemas.openxmlformats.org/officeDocument/2006/math" xmlns="">
      <p:transition spd="med" advClick="1">
        <p:fade thruBlk="0"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2722</Words>
  <Application>Microsoft Office PowerPoint</Application>
  <PresentationFormat>Широкоэкранный</PresentationFormat>
  <Paragraphs>296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Google Sans</vt:lpstr>
      <vt:lpstr>Inter</vt:lpstr>
      <vt:lpstr>Montserrat SemiBold</vt:lpstr>
      <vt:lpstr>quote-cjk-patch</vt:lpstr>
      <vt:lpstr>Тема Office</vt:lpstr>
      <vt:lpstr>Презентация PowerPoint</vt:lpstr>
      <vt:lpstr>Актуальность и практическая значимость</vt:lpstr>
      <vt:lpstr>Цель и задачи</vt:lpstr>
      <vt:lpstr>Анализ предметной области</vt:lpstr>
      <vt:lpstr>Входная и результатная информация</vt:lpstr>
      <vt:lpstr>Концептуальное проектирование</vt:lpstr>
      <vt:lpstr>ER-диаграмма в нотации Чена</vt:lpstr>
      <vt:lpstr>Логическое проектирование</vt:lpstr>
      <vt:lpstr>Логическое проектирование</vt:lpstr>
      <vt:lpstr>Физическое проектирование</vt:lpstr>
      <vt:lpstr>Физическая схема</vt:lpstr>
      <vt:lpstr>Поддержка ограничений целостности</vt:lpstr>
      <vt:lpstr>Поддержка ограничений целостности</vt:lpstr>
      <vt:lpstr>Поиск и обработка данных на сервере</vt:lpstr>
      <vt:lpstr>Распределение прав доступа</vt:lpstr>
      <vt:lpstr>Разработка клиентского приложения</vt:lpstr>
      <vt:lpstr>Разработка клиентского приложения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Дмитрий Котельников</dc:creator>
  <cp:lastModifiedBy>Дмитрий Котельников</cp:lastModifiedBy>
  <cp:revision>213</cp:revision>
  <dcterms:created xsi:type="dcterms:W3CDTF">2026-01-13T07:47:37Z</dcterms:created>
  <dcterms:modified xsi:type="dcterms:W3CDTF">2026-05-15T08:03:26Z</dcterms:modified>
</cp:coreProperties>
</file>